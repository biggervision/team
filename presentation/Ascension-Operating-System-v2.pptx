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a working framework, not a finished product — it is designed to be run, reviewed and improved every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 — Why. Why do we need an operating system?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Most people already know what they should be doing. What they lack is a repeatable structure that survives a bad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 what this is not, so nobody files it away as another planner. The objective is not to manage time — it is to organise energy, attention, priorities, responsibilities and recovery.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areas the system operates. Point out that faith, family and recovery sit on the same list as client delivery — that is deliberate.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mission in one line. Motivation is a feeling; a system is infrastructure. You are building the second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 — The Philosophy. How should we think about time, discipline, energy and priorities?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three-line philosophy. Intention sets direction, discipline produces execution, review produces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load-bearing principle. The block stays fixed; the task inside it can change. That is what stops people rebuilding the whole schedule every time a priority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explicit: early sleep and early wake-up is the preferred practice. There is no productivity advantage in staying awake late. The second track is an adaptation for people whose clients and time zones currently make that impossible.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position. We are not optimising for staying awake late — we are optimising for living and working better inside the reality people actually have, then moving it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Nobody has to jump to a 5 AM wake-up. Move the sleep time earlier in thirty-minute steps over weeks. Progress toward a healthier rhythm, not perfection in one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 — The Daily Operating System. How does the system work throughout the day?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whole day once before going block by block. Sixteen operating hours, seventeen blocks, eight protected hours of sleep. The clock times are an example for a late-night schedule — the structure is what transfers.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consistent wake-up time gives the day a predictable starting point and makes everything after it easier to maintain. You do not need to wake at 5 AM to be productive.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40 minutes set the direction of the whole day. Do not let notifications or other people’s priorities own them. Wake the body before asking the brain to perform.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Poor fuelling reduces focus, increases fatigue and makes demanding work harder to sustain. Keep the first meal simple and repeatable.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high-value window of the day. Use it for work that needs concentration, not for reactive tasks. One block, one priority — never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energy drops most people reach for the phone. Scrolling feels like rest but adds mental stimulation. Take the reset deliberately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 periods of sitting and screen work create physical and mental fatigue. The aim is health, movement, strength and mental freshness — not maximum intensity.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Constant availability creates constant interruption. Batching communication protects attention while still keeping clients informed and supported.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Recovery, relationships and enjoyment are part of sustainable performance. The final 30 minutes are the transition from life mode back into work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current work generates income today; your skills determine your future value. Do not spend the whole block watching — turn it into something you can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primary execution window — where high-value output is actually produced. It must not be fragmented by notifications and context switching.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short intentional break lets the brain recover before the next cognitive block. Leave the screen completely.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does not only happen through courses and screens. Thirty minutes a day compounds into a significant amount of knowledge over a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today, build tomorrow. On the other four days the block absorbs pending client work, revision or skill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task takes a few minutes, finish it. If it needs more time, decide exactly when. If it no longer matters, eliminate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Decision-making consumes mental energy. Preparing tomorrow tonight means you wake up already knowing where to begin.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should have a defined ending. Without it, messages, deadlines and unfinished thoughts travel straight into your sleep.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currently operate late, still protect recovery while working toward a healthier long-term schedule. Move in steps: 5:00 → 4:30 → 4:00 → 3:30 →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day as one loop. Eighteen moves, then repeat. If a block is missed, the next block still runs — never let one delay destroy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rule sets that keep the day intact: where social media is allowed, and when clients get answered. Urgent client issues can always override the system — everything else waits for its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 — The Weekly Tracker. Why should we lock and track our weekly time?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hinge of the session. The daily system tells you what to do; the weekly tracker tells you what actually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Locking the week is not about controlling every minute. It is about making the allocation visible so it can be argued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moves. The last one feeds back into the first — that is what makes it a system rather than a spreadsheet.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scorecard is the contract with yourself. Nine numbers, checked every Sunday — not a to-do list, a set of targets you either hit or explain.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168 cells, one hour each. Sleep and client work dominate; personal branding is two hours. Twenty-five hours are unassigned — that is the flexible capacity the system deliberately leaves, and where time quietly leaks if it is never reviewed.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answer these for the audience. Ask them, pause, and let people run the numbers against their own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 — Review &amp; Improvement. How do we use weekly data to improve the system?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four-step chain is the whole argument for tracking. Without visibility there is no awareness, and without awareness every decision about time is a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Thirty to forty-five minutes, every Sunday. Review the eleven categories, then write next week’s Top 3. Do not plan everything — identify the three outcomes that matter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monthly review is not a performance appraisal. Its only job is to find what the system needs — the bottleneck, the lesson, and next month’s single primary focus.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principles. If someone remembers only two, make them “one block, one purpose” and “protect the next block” — a delayed task must never be allowed to destroy the rest of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 — Implementation. How do we actually start?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ask anyone to adopt all seventeen blocks on Monday. Start with the wake time and one focus block. Stabilise, then track, then review, then improve.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this. The goal is not to become productive at any cost — it is to work, recover, learn, live and become better inside a system you can actually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floor. Steer questions back to the two decisions that matter: what time do you wake, and what is the one priority in your first focus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7286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60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ASCENSION</a:t>
            </a:r>
            <a:endParaRPr lang="en-US" sz="60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60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SYSTEM™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913632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2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 EDITION   V2.0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24528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Life, Business &amp; Performance Operating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5138928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3492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 with Intention.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with Discipline.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Every Day.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802575" y="57790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00" spc="15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Session</a:t>
            </a:r>
            <a:endParaRPr lang="en-US" sz="8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800" spc="15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Speaker-Led Framework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38528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036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27248"/>
            <a:ext cx="5669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200" b="1" dirty="0">
                <a:solidFill>
                  <a:srgbClr val="07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171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need an operating system?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0" y="2057400"/>
            <a:ext cx="7315" cy="2697480"/>
          </a:xfrm>
          <a:prstGeom prst="rect">
            <a:avLst/>
          </a:prstGeom>
          <a:solidFill>
            <a:srgbClr val="CBDD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036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514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Philosophy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Daily Operating System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Weekly Tracker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Improvement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4343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837883"/>
            <a:ext cx="253994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WHY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29968"/>
            <a:ext cx="10728655" cy="1877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people don’t have</a:t>
            </a:r>
            <a:endParaRPr lang="en-US" sz="40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40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 problem.</a:t>
            </a:r>
            <a:endParaRPr lang="en-US" sz="40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4000" b="1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have a system problem.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0" y="6837883"/>
            <a:ext cx="507987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WHY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4300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8308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NOT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31520" y="2002536"/>
            <a:ext cx="420624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435250"/>
            <a:ext cx="100584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9264" y="2240280"/>
            <a:ext cx="3968496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routine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832506"/>
            <a:ext cx="100584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9264" y="2637536"/>
            <a:ext cx="3968496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planner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229762"/>
            <a:ext cx="100584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" y="3034792"/>
            <a:ext cx="3968496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productivity schedule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78308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309360" y="2002536"/>
            <a:ext cx="512064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22402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personal life</a:t>
            </a:r>
            <a:endParaRPr lang="en-US" sz="3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business</a:t>
            </a:r>
            <a:endParaRPr lang="en-US" sz="3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system.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93776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objective is not to manage time. It is to organise energy, attention, priorities, responsibilities and recovery.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6837883"/>
            <a:ext cx="761981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WHY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4300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SYSTEM OPERATES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527048"/>
            <a:ext cx="10728655" cy="566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areas. One system.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724205" y="2369617"/>
            <a:ext cx="10743286" cy="2392070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76932"/>
            <a:ext cx="2139879" cy="1185062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559812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903626"/>
            <a:ext cx="1810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78714" y="2376932"/>
            <a:ext cx="2139879" cy="1185062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1594" y="2559812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1594" y="2903626"/>
            <a:ext cx="1810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 &amp; Prayer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5908" y="2376932"/>
            <a:ext cx="2139879" cy="1185062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08788" y="2559812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08788" y="2903626"/>
            <a:ext cx="1810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73102" y="2376932"/>
            <a:ext cx="2139879" cy="1185062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55982" y="2559812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55982" y="2903626"/>
            <a:ext cx="1810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Delivery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320296" y="2376932"/>
            <a:ext cx="2139879" cy="1185062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3176" y="2559812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03176" y="2903626"/>
            <a:ext cx="1810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Communication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3569310"/>
            <a:ext cx="2139879" cy="1185062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3752190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4096004"/>
            <a:ext cx="1810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Branding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878714" y="3569310"/>
            <a:ext cx="2139879" cy="1185062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61594" y="3752190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061594" y="4096004"/>
            <a:ext cx="1810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025908" y="3569310"/>
            <a:ext cx="2139879" cy="1185062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08788" y="3752190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208788" y="4096004"/>
            <a:ext cx="1810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173102" y="3569310"/>
            <a:ext cx="2139879" cy="1185062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55982" y="3752190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55982" y="4096004"/>
            <a:ext cx="1810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Making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320296" y="3569310"/>
            <a:ext cx="2139879" cy="1185062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3176" y="3752190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503176" y="4096004"/>
            <a:ext cx="1810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Growth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0" y="6837883"/>
            <a:ext cx="1015975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WHY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MISSION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95728"/>
            <a:ext cx="10728655" cy="205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disciplined life</a:t>
            </a:r>
            <a:endParaRPr lang="en-US" sz="44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4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</a:t>
            </a:r>
            <a:pPr indent="0" marL="0">
              <a:lnSpc>
                <a:spcPct val="96000"/>
              </a:lnSpc>
              <a:buNone/>
            </a:pPr>
            <a:r>
              <a:rPr lang="en-US" sz="4400" b="1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</a:t>
            </a:r>
            <a:pPr indent="0" marL="0">
              <a:lnSpc>
                <a:spcPct val="96000"/>
              </a:lnSpc>
              <a:buNone/>
            </a:pPr>
            <a:r>
              <a:rPr lang="en-US" sz="4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44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4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motivation.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0" y="6837883"/>
            <a:ext cx="1269968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38528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036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27248"/>
            <a:ext cx="5669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200" b="1" dirty="0">
                <a:solidFill>
                  <a:srgbClr val="07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Philosophy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171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we think about time, discipline, energy and priorities?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0" y="2057400"/>
            <a:ext cx="7315" cy="2697480"/>
          </a:xfrm>
          <a:prstGeom prst="rect">
            <a:avLst/>
          </a:prstGeom>
          <a:solidFill>
            <a:srgbClr val="CBDD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514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036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Philosophy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Daily Operating System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Weekly Tracker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Improvement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4343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837883"/>
            <a:ext cx="1523962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THE PHILOSOPHY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PHILOSOPHY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107286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 with Intention.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with Discipline.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Every Day.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0" y="6837883"/>
            <a:ext cx="1777956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THE PHILOSOPHY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PRINCIPLE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67128"/>
            <a:ext cx="10728655" cy="1406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blocks are </a:t>
            </a:r>
            <a:pPr indent="0" marL="0">
              <a:lnSpc>
                <a:spcPct val="96000"/>
              </a:lnSpc>
              <a:buNone/>
            </a:pPr>
            <a:r>
              <a:rPr lang="en-US" sz="4400" b="1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pPr indent="0" marL="0">
              <a:lnSpc>
                <a:spcPct val="96000"/>
              </a:lnSpc>
              <a:buNone/>
            </a:pPr>
            <a:r>
              <a:rPr lang="en-US" sz="4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4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4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Priorities are </a:t>
            </a:r>
            <a:pPr indent="0" marL="0">
              <a:lnSpc>
                <a:spcPct val="96000"/>
              </a:lnSpc>
              <a:buNone/>
            </a:pPr>
            <a:r>
              <a:rPr lang="en-US" sz="4400" b="1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</a:t>
            </a:r>
            <a:pPr indent="0" marL="0">
              <a:lnSpc>
                <a:spcPct val="96000"/>
              </a:lnSpc>
              <a:buNone/>
            </a:pPr>
            <a:r>
              <a:rPr lang="en-US" sz="4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03961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block stays fixed. The task can change — so you never rebuild the whole schedule when priorities move.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837883"/>
            <a:ext cx="2031949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THE PHILOSOPHY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9728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SLEEP PRINCIPLE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81328"/>
            <a:ext cx="10728655" cy="964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sleep and early wake-up</a:t>
            </a:r>
            <a:endParaRPr lang="en-US" sz="29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preferred practice.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74696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PREFERRED DIRECTION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31520" y="3067304"/>
            <a:ext cx="1829753" cy="5745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067304"/>
            <a:ext cx="1829753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Earlier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561273" y="3067304"/>
            <a:ext cx="274320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35592" y="3067304"/>
            <a:ext cx="1718310" cy="5745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5592" y="3067304"/>
            <a:ext cx="1718310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Earlier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53903" y="3067304"/>
            <a:ext cx="274320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28223" y="3067304"/>
            <a:ext cx="2052637" cy="5745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28223" y="3067304"/>
            <a:ext cx="2052637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 the Day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80860" y="3067304"/>
            <a:ext cx="274320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55180" y="3067304"/>
            <a:ext cx="2164080" cy="5745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55180" y="3067304"/>
            <a:ext cx="2164080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at Night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099052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REALITY FOR MANY ONLINE PROFESSIONALS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31520" y="4391660"/>
            <a:ext cx="1183386" cy="5364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391660"/>
            <a:ext cx="1183386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Work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914906" y="4391660"/>
            <a:ext cx="2743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89226" y="4391660"/>
            <a:ext cx="2074926" cy="5364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89226" y="4391660"/>
            <a:ext cx="2074926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Schedule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264152" y="4391660"/>
            <a:ext cx="2743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38472" y="4391660"/>
            <a:ext cx="1718310" cy="5364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38472" y="4391660"/>
            <a:ext cx="171831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Sleep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56782" y="4391660"/>
            <a:ext cx="2743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31102" y="4391660"/>
            <a:ext cx="1540002" cy="5364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31102" y="4391660"/>
            <a:ext cx="1540002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Shift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5248148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There is no productivity advantage in staying awake late. This system does not glorify it.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6837883"/>
            <a:ext cx="2285943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THE PHILOSOPHY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LATE-NIGHT PROFESSIONAL PRINCIPLE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not optimising</a:t>
            </a:r>
            <a:endParaRPr lang="en-US" sz="26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26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staying awake late.</a:t>
            </a:r>
            <a:endParaRPr lang="en-US" sz="26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2600" b="1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optimising for living</a:t>
            </a:r>
            <a:endParaRPr lang="en-US" sz="26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2600" b="1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working better inside</a:t>
            </a:r>
            <a:endParaRPr lang="en-US" sz="26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2600" b="1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current reality.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214884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YOU GENUINELY CANNOT CHANGE IT YET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949440" y="2368296"/>
            <a:ext cx="448056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2846730"/>
            <a:ext cx="100584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87184" y="2651760"/>
            <a:ext cx="4242816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boundaries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3243986"/>
            <a:ext cx="100584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87184" y="3049016"/>
            <a:ext cx="4242816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your sleep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49440" y="3641242"/>
            <a:ext cx="100584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87184" y="3446272"/>
            <a:ext cx="4242816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your health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49440" y="4038498"/>
            <a:ext cx="100584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87184" y="3843528"/>
            <a:ext cx="4242816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your relationships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49440" y="4435754"/>
            <a:ext cx="100584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87184" y="4240784"/>
            <a:ext cx="4242816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your focus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837883"/>
            <a:ext cx="2539937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THE PHILOSOPHY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CONSISTENCY OVER EXTREMES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92808"/>
            <a:ext cx="10728655" cy="128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don’t need</a:t>
            </a:r>
            <a:endParaRPr lang="en-US" sz="40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40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 AM wake-up.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4744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LONG-TERM DIRECTION — MOVE GRADUALLY, NEVER OVERNIGHT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31520" y="3958336"/>
            <a:ext cx="1265111" cy="5999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958336"/>
            <a:ext cx="1265111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5:00 AM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996631" y="3958336"/>
            <a:ext cx="274320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70951" y="3958336"/>
            <a:ext cx="1265111" cy="5999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70951" y="3958336"/>
            <a:ext cx="1265111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4:30 AM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536061" y="3958336"/>
            <a:ext cx="274320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381" y="3958336"/>
            <a:ext cx="1265111" cy="5999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10381" y="3958336"/>
            <a:ext cx="1265111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4:00 AM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075492" y="3958336"/>
            <a:ext cx="274320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49812" y="3958336"/>
            <a:ext cx="1265111" cy="5999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49812" y="3958336"/>
            <a:ext cx="1265111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3:30 AM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614922" y="3958336"/>
            <a:ext cx="274320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89242" y="3958336"/>
            <a:ext cx="1265111" cy="5999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9242" y="3958336"/>
            <a:ext cx="1265111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878324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 toward a healthier rhythm, not perfection in one day.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0" y="6837883"/>
            <a:ext cx="2793930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38528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036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27248"/>
            <a:ext cx="5669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200" b="1" dirty="0">
                <a:solidFill>
                  <a:srgbClr val="07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Daily Operating System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171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system work throughout the day?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0" y="2057400"/>
            <a:ext cx="7315" cy="2697480"/>
          </a:xfrm>
          <a:prstGeom prst="rect">
            <a:avLst/>
          </a:prstGeom>
          <a:solidFill>
            <a:srgbClr val="CBDD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514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Philosophy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036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Daily Operating System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Weekly Tracker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Improvement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4343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837883"/>
            <a:ext cx="3047924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DAILY OPERATING SYSTEM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9728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DAILY ARCHITECTURE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81328"/>
            <a:ext cx="10728655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2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Seventeen blocks. Sixteen operating hours.</a:t>
            </a:r>
            <a:endParaRPr lang="en-US" sz="27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2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hours of sleep.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51929" y="28895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875443" y="28895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650" dirty="0"/>
          </a:p>
        </p:txBody>
      </p:sp>
      <p:sp>
        <p:nvSpPr>
          <p:cNvPr id="9" name="Text 7"/>
          <p:cNvSpPr txBox="1"/>
          <p:nvPr/>
        </p:nvSpPr>
        <p:spPr>
          <a:xfrm>
            <a:off x="1396975" y="28895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1955759" y="28895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650" dirty="0"/>
          </a:p>
        </p:txBody>
      </p:sp>
      <p:sp>
        <p:nvSpPr>
          <p:cNvPr id="11" name="Text 9"/>
          <p:cNvSpPr txBox="1"/>
          <p:nvPr/>
        </p:nvSpPr>
        <p:spPr>
          <a:xfrm>
            <a:off x="2514543" y="28895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650" dirty="0"/>
          </a:p>
        </p:txBody>
      </p:sp>
      <p:sp>
        <p:nvSpPr>
          <p:cNvPr id="12" name="Text 10"/>
          <p:cNvSpPr txBox="1"/>
          <p:nvPr/>
        </p:nvSpPr>
        <p:spPr>
          <a:xfrm>
            <a:off x="3296841" y="28895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4135017" y="28895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650" dirty="0"/>
          </a:p>
        </p:txBody>
      </p:sp>
      <p:sp>
        <p:nvSpPr>
          <p:cNvPr id="14" name="Text 12"/>
          <p:cNvSpPr txBox="1"/>
          <p:nvPr/>
        </p:nvSpPr>
        <p:spPr>
          <a:xfrm>
            <a:off x="5196707" y="28895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650" dirty="0"/>
          </a:p>
        </p:txBody>
      </p:sp>
      <p:sp>
        <p:nvSpPr>
          <p:cNvPr id="15" name="Text 13"/>
          <p:cNvSpPr txBox="1"/>
          <p:nvPr/>
        </p:nvSpPr>
        <p:spPr>
          <a:xfrm>
            <a:off x="6090761" y="28895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6761302" y="28895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650" dirty="0"/>
          </a:p>
        </p:txBody>
      </p:sp>
      <p:sp>
        <p:nvSpPr>
          <p:cNvPr id="17" name="Text 15"/>
          <p:cNvSpPr txBox="1"/>
          <p:nvPr/>
        </p:nvSpPr>
        <p:spPr>
          <a:xfrm>
            <a:off x="7040694" y="28895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650" dirty="0"/>
          </a:p>
        </p:txBody>
      </p:sp>
      <p:sp>
        <p:nvSpPr>
          <p:cNvPr id="18" name="Text 16"/>
          <p:cNvSpPr txBox="1"/>
          <p:nvPr/>
        </p:nvSpPr>
        <p:spPr>
          <a:xfrm>
            <a:off x="7543600" y="28895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731520" y="3127248"/>
            <a:ext cx="41148" cy="2377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127248"/>
            <a:ext cx="298018" cy="2377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9538" y="3127248"/>
            <a:ext cx="149009" cy="2377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8547" y="3127248"/>
            <a:ext cx="894055" cy="2377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72602" y="3127248"/>
            <a:ext cx="223514" cy="2377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96116" y="3127248"/>
            <a:ext cx="894055" cy="2377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01927" y="3127248"/>
            <a:ext cx="447027" cy="2377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8954" y="3127248"/>
            <a:ext cx="1229325" cy="2377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78279" y="3127248"/>
            <a:ext cx="894055" cy="2377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72334" y="3127248"/>
            <a:ext cx="894055" cy="2377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389" y="3127248"/>
            <a:ext cx="111757" cy="2377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78145" y="3127248"/>
            <a:ext cx="223514" cy="2377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01659" y="3127248"/>
            <a:ext cx="335270" cy="2377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36930" y="3127248"/>
            <a:ext cx="111757" cy="2377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48686" y="3127248"/>
            <a:ext cx="111757" cy="2377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60443" y="3127248"/>
            <a:ext cx="223514" cy="2377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83957" y="3127248"/>
            <a:ext cx="3576218" cy="237744"/>
          </a:xfrm>
          <a:prstGeom prst="rect">
            <a:avLst/>
          </a:prstGeom>
          <a:solidFill>
            <a:srgbClr val="131C1F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343814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PM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2016709" y="343814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1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PM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3804818" y="343814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1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PM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5592928" y="343814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1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AM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7381037" y="343814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1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AM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10454335" y="343814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1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PM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31520" y="3858768"/>
            <a:ext cx="707898" cy="5237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31520" y="3858768"/>
            <a:ext cx="707898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439418" y="3858768"/>
            <a:ext cx="274320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713738" y="3858768"/>
            <a:ext cx="789623" cy="5237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713738" y="3858768"/>
            <a:ext cx="789623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2503361" y="3858768"/>
            <a:ext cx="274320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77681" y="3858768"/>
            <a:ext cx="707898" cy="5237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777681" y="3858768"/>
            <a:ext cx="707898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3485578" y="3858768"/>
            <a:ext cx="274320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759898" y="3858768"/>
            <a:ext cx="789623" cy="5237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759898" y="3858768"/>
            <a:ext cx="789623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4549521" y="3858768"/>
            <a:ext cx="274320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23841" y="3858768"/>
            <a:ext cx="953071" cy="5237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823841" y="3858768"/>
            <a:ext cx="953071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5776912" y="3858768"/>
            <a:ext cx="274320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051232" y="3858768"/>
            <a:ext cx="707898" cy="5237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051232" y="3858768"/>
            <a:ext cx="707898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6759130" y="3858768"/>
            <a:ext cx="274320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033450" y="3858768"/>
            <a:ext cx="1279970" cy="5237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033450" y="3858768"/>
            <a:ext cx="1279970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31520" y="4528820"/>
            <a:ext cx="707898" cy="5237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31520" y="4528820"/>
            <a:ext cx="707898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1439418" y="4528820"/>
            <a:ext cx="274320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713738" y="4528820"/>
            <a:ext cx="789623" cy="5237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713738" y="4528820"/>
            <a:ext cx="789623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2503361" y="4528820"/>
            <a:ext cx="274320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777681" y="4528820"/>
            <a:ext cx="789623" cy="5237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777681" y="4528820"/>
            <a:ext cx="789623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3567303" y="4528820"/>
            <a:ext cx="274320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841623" y="4528820"/>
            <a:ext cx="953071" cy="5237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841623" y="4528820"/>
            <a:ext cx="953071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4794695" y="4528820"/>
            <a:ext cx="274320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069014" y="4528820"/>
            <a:ext cx="789623" cy="5237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069014" y="4528820"/>
            <a:ext cx="789623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5858637" y="4528820"/>
            <a:ext cx="274320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132957" y="4528820"/>
            <a:ext cx="707898" cy="5237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132957" y="4528820"/>
            <a:ext cx="707898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100" dirty="0"/>
          </a:p>
        </p:txBody>
      </p:sp>
      <p:sp>
        <p:nvSpPr>
          <p:cNvPr id="79" name="Text 77"/>
          <p:cNvSpPr txBox="1"/>
          <p:nvPr/>
        </p:nvSpPr>
        <p:spPr>
          <a:xfrm>
            <a:off x="6840855" y="4528820"/>
            <a:ext cx="274320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115175" y="4528820"/>
            <a:ext cx="789623" cy="5237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7115175" y="4528820"/>
            <a:ext cx="789623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31520" y="5198872"/>
            <a:ext cx="789623" cy="5237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31520" y="5198872"/>
            <a:ext cx="789623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1521143" y="5198872"/>
            <a:ext cx="274320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795463" y="5198872"/>
            <a:ext cx="871347" cy="5237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795463" y="5198872"/>
            <a:ext cx="871347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</p:txBody>
      </p:sp>
      <p:sp>
        <p:nvSpPr>
          <p:cNvPr id="87" name="Text 85"/>
          <p:cNvSpPr txBox="1"/>
          <p:nvPr/>
        </p:nvSpPr>
        <p:spPr>
          <a:xfrm>
            <a:off x="2666810" y="5198872"/>
            <a:ext cx="274320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2941130" y="5198872"/>
            <a:ext cx="953071" cy="5237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2941130" y="5198872"/>
            <a:ext cx="953071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3894201" y="5198872"/>
            <a:ext cx="274320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168521" y="5198872"/>
            <a:ext cx="789623" cy="5237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168521" y="5198872"/>
            <a:ext cx="789623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</a:t>
            </a:r>
            <a:endParaRPr lang="en-US" sz="1100" dirty="0"/>
          </a:p>
        </p:txBody>
      </p:sp>
      <p:sp>
        <p:nvSpPr>
          <p:cNvPr id="93" name="Text 91"/>
          <p:cNvSpPr txBox="1"/>
          <p:nvPr/>
        </p:nvSpPr>
        <p:spPr>
          <a:xfrm>
            <a:off x="4958143" y="5198872"/>
            <a:ext cx="274320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5232463" y="5198872"/>
            <a:ext cx="871347" cy="5237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5232463" y="5198872"/>
            <a:ext cx="871347" cy="52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0" y="6837883"/>
            <a:ext cx="3301917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DAILY OPERATING SYSTEM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solidFill>
            <a:srgbClr val="0B0F10"/>
          </a:solidFill>
          <a:ln w="11430">
            <a:solidFill>
              <a:srgbClr val="04A2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1:00 PM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207008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Up Consistently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time.</a:t>
            </a:r>
            <a:endParaRPr lang="en-US" sz="29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day.</a:t>
            </a: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103120"/>
            <a:ext cx="4782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FIRST OBJECTIVE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675120" y="232257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468880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Wake Time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291185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2939288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Sleep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3382264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3409696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Sleep-Wake Rhythm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3852672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3880104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Predictable Starting Point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5120" y="4323080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53212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Consistency &gt; extreme schedules.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31520" y="6053328"/>
            <a:ext cx="41148" cy="1234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6053328"/>
            <a:ext cx="29801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9538" y="6053328"/>
            <a:ext cx="149009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8547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72602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96116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01927" y="6053328"/>
            <a:ext cx="44702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48954" y="6053328"/>
            <a:ext cx="122932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78279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72334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389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8145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01659" y="6053328"/>
            <a:ext cx="335270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36930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48686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60443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83957" y="6053328"/>
            <a:ext cx="3576218" cy="123444"/>
          </a:xfrm>
          <a:prstGeom prst="rect">
            <a:avLst/>
          </a:prstGeom>
          <a:solidFill>
            <a:srgbClr val="131C1F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5833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731520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PM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330189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PM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509000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AM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6878117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AM · WORK ENDS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9448495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H SLEEP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0" y="6837883"/>
            <a:ext cx="3555911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DAILY OPERATING SYSTEM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solidFill>
            <a:srgbClr val="0B0F10"/>
          </a:solidFill>
          <a:ln w="11430">
            <a:solidFill>
              <a:srgbClr val="04A2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1:00 – 1:40 PM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207008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Your First Hour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intentionally.</a:t>
            </a:r>
            <a:endParaRPr lang="en-US" sz="29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start consuming.</a:t>
            </a: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290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40-minute morning reset.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103120"/>
            <a:ext cx="4782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MORNING RESET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675120" y="232257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24688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7095744" y="24688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93992" y="2743200"/>
            <a:ext cx="7315" cy="164592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29260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095744" y="29260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Freshen Up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793992" y="3200400"/>
            <a:ext cx="7315" cy="164592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33832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7095744" y="33832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Light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793992" y="3657600"/>
            <a:ext cx="7315" cy="164592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38404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095744" y="38404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Stretching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93992" y="4114800"/>
            <a:ext cx="7315" cy="164592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42976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7095744" y="42976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Dhuhr Prayer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793992" y="4572000"/>
            <a:ext cx="7315" cy="164592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0" y="47548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7095744" y="47548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Today’s Top 3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553212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social media. Your Top 3 were already written last night.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31520" y="6053328"/>
            <a:ext cx="4114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6053328"/>
            <a:ext cx="298018" cy="1234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9538" y="6053328"/>
            <a:ext cx="149009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78547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72602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96116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01927" y="6053328"/>
            <a:ext cx="44702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48954" y="6053328"/>
            <a:ext cx="122932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78279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72334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66389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78145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01659" y="6053328"/>
            <a:ext cx="335270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36930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48686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60443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83957" y="6053328"/>
            <a:ext cx="3576218" cy="123444"/>
          </a:xfrm>
          <a:prstGeom prst="rect">
            <a:avLst/>
          </a:prstGeom>
          <a:solidFill>
            <a:srgbClr val="131C1F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1520" y="5833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731520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PM</a:t>
            </a:r>
            <a:endParaRPr lang="en-US" sz="700" dirty="0"/>
          </a:p>
        </p:txBody>
      </p:sp>
      <p:sp>
        <p:nvSpPr>
          <p:cNvPr id="50" name="Text 48"/>
          <p:cNvSpPr txBox="1"/>
          <p:nvPr/>
        </p:nvSpPr>
        <p:spPr>
          <a:xfrm>
            <a:off x="330189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PM</a:t>
            </a:r>
            <a:endParaRPr lang="en-US" sz="700" dirty="0"/>
          </a:p>
        </p:txBody>
      </p:sp>
      <p:sp>
        <p:nvSpPr>
          <p:cNvPr id="51" name="Text 49"/>
          <p:cNvSpPr txBox="1"/>
          <p:nvPr/>
        </p:nvSpPr>
        <p:spPr>
          <a:xfrm>
            <a:off x="509000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AM</a:t>
            </a:r>
            <a:endParaRPr lang="en-US" sz="700" dirty="0"/>
          </a:p>
        </p:txBody>
      </p:sp>
      <p:sp>
        <p:nvSpPr>
          <p:cNvPr id="52" name="Text 50"/>
          <p:cNvSpPr txBox="1"/>
          <p:nvPr/>
        </p:nvSpPr>
        <p:spPr>
          <a:xfrm>
            <a:off x="6878117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AM · WORK ENDS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9448495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H SLEEP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0" y="6837883"/>
            <a:ext cx="3809905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DAILY OPERATING SYSTEM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solidFill>
            <a:srgbClr val="0B0F10"/>
          </a:solidFill>
          <a:ln w="11430">
            <a:solidFill>
              <a:srgbClr val="04A2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1:40 – 2:00 PM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207008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Refuel Your System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minutes.</a:t>
            </a: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103120"/>
            <a:ext cx="4782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FUEL WINDOW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675120" y="232257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468880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Nutritious Meal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291185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2939288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3382264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3409696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 At Least One Meal Yourself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3852672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53212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energy is an operating resource. Fuel the system before you run it.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1520" y="6053328"/>
            <a:ext cx="4114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6053328"/>
            <a:ext cx="29801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9538" y="6053328"/>
            <a:ext cx="149009" cy="1234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8547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72602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96116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01927" y="6053328"/>
            <a:ext cx="44702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8954" y="6053328"/>
            <a:ext cx="122932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78279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72334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389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78145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01659" y="6053328"/>
            <a:ext cx="335270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36930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48686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60443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83957" y="6053328"/>
            <a:ext cx="3576218" cy="123444"/>
          </a:xfrm>
          <a:prstGeom prst="rect">
            <a:avLst/>
          </a:prstGeom>
          <a:solidFill>
            <a:srgbClr val="131C1F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9723" y="5833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731520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PM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330189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PM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509000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AM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6878117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AM · WORK ENDS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9448495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H SLEEP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0" y="6837883"/>
            <a:ext cx="4063898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DAILY OPERATING SYSTEM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solidFill>
            <a:srgbClr val="0B0F10"/>
          </a:solidFill>
          <a:ln w="11430">
            <a:solidFill>
              <a:srgbClr val="04A2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2:00 – 4:00 PM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207008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Your Peak Hours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block.</a:t>
            </a:r>
            <a:endParaRPr lang="en-US" sz="29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priority.</a:t>
            </a: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103120"/>
            <a:ext cx="4782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 ONE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675120" y="232257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468880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Work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291185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2939288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Communication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3382264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3409696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Learning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3852672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3880104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Conversion Tracking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5120" y="4323080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53212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every hour has equal value. Protect your energy → attention → output.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31520" y="6053328"/>
            <a:ext cx="4114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6053328"/>
            <a:ext cx="29801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9538" y="6053328"/>
            <a:ext cx="149009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8547" y="6053328"/>
            <a:ext cx="894055" cy="1234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72602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96116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01927" y="6053328"/>
            <a:ext cx="44702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48954" y="6053328"/>
            <a:ext cx="122932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78279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72334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389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8145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01659" y="6053328"/>
            <a:ext cx="335270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36930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48686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60443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83957" y="6053328"/>
            <a:ext cx="3576218" cy="123444"/>
          </a:xfrm>
          <a:prstGeom prst="rect">
            <a:avLst/>
          </a:prstGeom>
          <a:solidFill>
            <a:srgbClr val="131C1F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351255" y="5833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731520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PM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330189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PM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509000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AM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6878117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AM · WORK ENDS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9448495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H SLEEP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0" y="6837883"/>
            <a:ext cx="4317892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DAILY OPERATING SYSTEM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solidFill>
            <a:srgbClr val="0B0F10"/>
          </a:solidFill>
          <a:ln w="11430">
            <a:solidFill>
              <a:srgbClr val="04A2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4:00 – 4:30 PM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207008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Your Energy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minutes.</a:t>
            </a: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9008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15–20 minute power nap counts if you genuinely need it.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103120"/>
            <a:ext cx="4782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 SEQUENCE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675120" y="232257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24688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7095744" y="24688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93992" y="2743200"/>
            <a:ext cx="7315" cy="164592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29260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095744" y="29260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Hydration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793992" y="3200400"/>
            <a:ext cx="7315" cy="164592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33832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7095744" y="33832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for Gym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793992" y="3657600"/>
            <a:ext cx="7315" cy="164592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38404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095744" y="38404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Away From the Screen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53212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Scrolling feels like recovery. Recover intentionally, not digitally.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31520" y="6053328"/>
            <a:ext cx="4114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6053328"/>
            <a:ext cx="29801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9538" y="6053328"/>
            <a:ext cx="149009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78547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72602" y="6053328"/>
            <a:ext cx="223514" cy="1234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96116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01927" y="6053328"/>
            <a:ext cx="44702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8954" y="6053328"/>
            <a:ext cx="122932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78279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72334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389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78145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01659" y="6053328"/>
            <a:ext cx="335270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36930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48686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60443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83957" y="6053328"/>
            <a:ext cx="3576218" cy="123444"/>
          </a:xfrm>
          <a:prstGeom prst="rect">
            <a:avLst/>
          </a:prstGeom>
          <a:solidFill>
            <a:srgbClr val="131C1F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910039" y="5833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731520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PM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330189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PM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509000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AM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6878117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AM · WORK ENDS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9448495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H SLEEP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0" y="6837883"/>
            <a:ext cx="4571886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DAILY OPERATING SYSTEM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solidFill>
            <a:srgbClr val="0B0F10"/>
          </a:solidFill>
          <a:ln w="11430">
            <a:solidFill>
              <a:srgbClr val="04A2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4:30 – 6:30 PM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207008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Your Body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hours.</a:t>
            </a:r>
            <a:endParaRPr lang="en-US" sz="29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to door.</a:t>
            </a: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103120"/>
            <a:ext cx="4782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 BLOCK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675120" y="232257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4688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095744" y="24688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to the Gym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793992" y="2743200"/>
            <a:ext cx="7315" cy="164592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29260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095744" y="29260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93992" y="3200400"/>
            <a:ext cx="7315" cy="164592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33832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095744" y="33832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Home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53212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goal is not to destroy yourself. Move → Reset → Perform Better.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31520" y="6053328"/>
            <a:ext cx="4114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6053328"/>
            <a:ext cx="29801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9538" y="6053328"/>
            <a:ext cx="149009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8547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72602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96116" y="6053328"/>
            <a:ext cx="894055" cy="1234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01927" y="6053328"/>
            <a:ext cx="44702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48954" y="6053328"/>
            <a:ext cx="122932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78279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72334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389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8145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01659" y="6053328"/>
            <a:ext cx="335270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36930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48686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60443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83957" y="6053328"/>
            <a:ext cx="3576218" cy="123444"/>
          </a:xfrm>
          <a:prstGeom prst="rect">
            <a:avLst/>
          </a:prstGeom>
          <a:solidFill>
            <a:srgbClr val="131C1F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468823" y="5833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731520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PM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330189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PM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509000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AM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6878117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AM · WORK ENDS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9448495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H SLEEP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0" y="6837883"/>
            <a:ext cx="4825879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DAILY OPERATING SYSTEM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solidFill>
            <a:srgbClr val="0B0F10"/>
          </a:solidFill>
          <a:ln w="11430">
            <a:solidFill>
              <a:srgbClr val="04A2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6:45 – 7:45 PM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207008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Without Constant Interruption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 intentionally.</a:t>
            </a:r>
            <a:endParaRPr lang="en-US" sz="29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react continuously.</a:t>
            </a: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103120"/>
            <a:ext cx="4782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COMMUNICATION CHANNELS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675120" y="232257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468880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291185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2939288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3382264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3409696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3852672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3880104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Messenger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5120" y="4323080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4350512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Follow-up &amp; Updates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75120" y="4793488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553212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Don’t live inside your inbox. An urgent client issue can override the system.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1520" y="6053328"/>
            <a:ext cx="4114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6053328"/>
            <a:ext cx="29801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9538" y="6053328"/>
            <a:ext cx="149009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78547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72602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96116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01927" y="6053328"/>
            <a:ext cx="447027" cy="1234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48954" y="6053328"/>
            <a:ext cx="122932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78279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72334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389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78145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01659" y="6053328"/>
            <a:ext cx="335270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36930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48686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60443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83957" y="6053328"/>
            <a:ext cx="3576218" cy="123444"/>
          </a:xfrm>
          <a:prstGeom prst="rect">
            <a:avLst/>
          </a:prstGeom>
          <a:solidFill>
            <a:srgbClr val="131C1F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251121" y="5833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731520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PM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330189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PM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509000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AM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6878117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AM · WORK ENDS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9448495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H SLEEP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0" y="6837883"/>
            <a:ext cx="5079873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DAILY OPERATING SYSTEM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solidFill>
            <a:srgbClr val="0B0F10"/>
          </a:solidFill>
          <a:ln w="11430">
            <a:solidFill>
              <a:srgbClr val="04A2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7:45 – 10:30 PM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207008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Time to Live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7:45 – 10:00 PM · LIFE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731520" y="2551176"/>
            <a:ext cx="512064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697480"/>
            <a:ext cx="5120640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&amp; Your Son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140456"/>
            <a:ext cx="512064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167888"/>
            <a:ext cx="5120640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610864"/>
            <a:ext cx="512064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638296"/>
            <a:ext cx="5120640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Dinner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081272"/>
            <a:ext cx="512064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08704"/>
            <a:ext cx="5120640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Prayer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551680"/>
            <a:ext cx="512064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579112"/>
            <a:ext cx="5120640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Social Media — 15–20 min max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5022088"/>
            <a:ext cx="512064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2103120"/>
            <a:ext cx="4782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 – 10:30 PM · RESET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675120" y="232257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2468880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Workspace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0" y="291185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2939288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 Setup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75120" y="3382264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3409696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Ready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75120" y="3852672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3880104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Priorities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75120" y="4323080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0" y="4350512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Reset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675120" y="4793488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553212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entire life cannot become a productivity project. Live → Reset → Execute.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31520" y="6053328"/>
            <a:ext cx="4114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6053328"/>
            <a:ext cx="29801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9538" y="6053328"/>
            <a:ext cx="149009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78547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72602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96116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01927" y="6053328"/>
            <a:ext cx="44702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8954" y="6053328"/>
            <a:ext cx="1229325" cy="1234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78279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72334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389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78145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01659" y="6053328"/>
            <a:ext cx="335270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36930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48686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660443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83957" y="6053328"/>
            <a:ext cx="3576218" cy="123444"/>
          </a:xfrm>
          <a:prstGeom prst="rect">
            <a:avLst/>
          </a:prstGeom>
          <a:solidFill>
            <a:srgbClr val="131C1F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089297" y="5833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PM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330189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PM</a:t>
            </a:r>
            <a:endParaRPr lang="en-US" sz="700" dirty="0"/>
          </a:p>
        </p:txBody>
      </p:sp>
      <p:sp>
        <p:nvSpPr>
          <p:cNvPr id="54" name="Text 52"/>
          <p:cNvSpPr txBox="1"/>
          <p:nvPr/>
        </p:nvSpPr>
        <p:spPr>
          <a:xfrm>
            <a:off x="509000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AM</a:t>
            </a:r>
            <a:endParaRPr lang="en-US" sz="700" dirty="0"/>
          </a:p>
        </p:txBody>
      </p:sp>
      <p:sp>
        <p:nvSpPr>
          <p:cNvPr id="55" name="Text 53"/>
          <p:cNvSpPr txBox="1"/>
          <p:nvPr/>
        </p:nvSpPr>
        <p:spPr>
          <a:xfrm>
            <a:off x="6878117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AM · WORK ENDS</a:t>
            </a:r>
            <a:endParaRPr lang="en-US" sz="700" dirty="0"/>
          </a:p>
        </p:txBody>
      </p:sp>
      <p:sp>
        <p:nvSpPr>
          <p:cNvPr id="56" name="Text 54"/>
          <p:cNvSpPr txBox="1"/>
          <p:nvPr/>
        </p:nvSpPr>
        <p:spPr>
          <a:xfrm>
            <a:off x="9448495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H SLEEP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0" y="6837883"/>
            <a:ext cx="5333867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DAILY OPERATING SYSTEM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solidFill>
            <a:srgbClr val="0B0F10"/>
          </a:solidFill>
          <a:ln w="11430">
            <a:solidFill>
              <a:srgbClr val="04A2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10:30 PM – 12:30 AM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207008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&amp; Level Up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 FORMAT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731520" y="2551176"/>
            <a:ext cx="512064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862072"/>
            <a:ext cx="863918" cy="5491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862072"/>
            <a:ext cx="863918" cy="549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595438" y="2862072"/>
            <a:ext cx="274320" cy="549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69758" y="2862072"/>
            <a:ext cx="767334" cy="5491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69758" y="2862072"/>
            <a:ext cx="767334" cy="549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637092" y="2862072"/>
            <a:ext cx="274320" cy="549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11412" y="2862072"/>
            <a:ext cx="1153668" cy="5491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11412" y="2862072"/>
            <a:ext cx="1153668" cy="549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065079" y="2862072"/>
            <a:ext cx="274320" cy="549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39400" y="2862072"/>
            <a:ext cx="863918" cy="5491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39400" y="2862072"/>
            <a:ext cx="863918" cy="549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2103120"/>
            <a:ext cx="4782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AREAS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675120" y="232257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0" y="2468880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75120" y="291185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2939288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Analytics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75120" y="3382264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0" y="3409696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Tracking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75120" y="3852672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0" y="3880104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75120" y="4323080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553212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Don’t spend the block consuming. Work pays today — learning compounds tomorrow.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31520" y="6053328"/>
            <a:ext cx="4114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6053328"/>
            <a:ext cx="29801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9538" y="6053328"/>
            <a:ext cx="149009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78547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72602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96116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01927" y="6053328"/>
            <a:ext cx="44702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48954" y="6053328"/>
            <a:ext cx="122932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78279" y="6053328"/>
            <a:ext cx="894055" cy="1234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72334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66389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78145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01659" y="6053328"/>
            <a:ext cx="335270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36930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48686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60443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83957" y="6053328"/>
            <a:ext cx="3576218" cy="123444"/>
          </a:xfrm>
          <a:prstGeom prst="rect">
            <a:avLst/>
          </a:prstGeom>
          <a:solidFill>
            <a:srgbClr val="131C1F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150987" y="5833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731520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PM</a:t>
            </a:r>
            <a:endParaRPr lang="en-US" sz="700" dirty="0"/>
          </a:p>
        </p:txBody>
      </p:sp>
      <p:sp>
        <p:nvSpPr>
          <p:cNvPr id="52" name="Text 50"/>
          <p:cNvSpPr txBox="1"/>
          <p:nvPr/>
        </p:nvSpPr>
        <p:spPr>
          <a:xfrm>
            <a:off x="330189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PM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509000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AM</a:t>
            </a:r>
            <a:endParaRPr lang="en-US" sz="700" dirty="0"/>
          </a:p>
        </p:txBody>
      </p:sp>
      <p:sp>
        <p:nvSpPr>
          <p:cNvPr id="54" name="Text 52"/>
          <p:cNvSpPr txBox="1"/>
          <p:nvPr/>
        </p:nvSpPr>
        <p:spPr>
          <a:xfrm>
            <a:off x="6878117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AM · WORK ENDS</a:t>
            </a:r>
            <a:endParaRPr lang="en-US" sz="700" dirty="0"/>
          </a:p>
        </p:txBody>
      </p:sp>
      <p:sp>
        <p:nvSpPr>
          <p:cNvPr id="55" name="Text 53"/>
          <p:cNvSpPr txBox="1"/>
          <p:nvPr/>
        </p:nvSpPr>
        <p:spPr>
          <a:xfrm>
            <a:off x="9448495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H SLEEP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0" y="6837883"/>
            <a:ext cx="5587860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DAILY OPERATING SYSTEM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solidFill>
            <a:srgbClr val="0B0F10"/>
          </a:solidFill>
          <a:ln w="11430">
            <a:solidFill>
              <a:srgbClr val="04A2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12:30 – 2:30 AM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207008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Your Deep Work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90 minutes</a:t>
            </a:r>
            <a:endParaRPr lang="en-US" sz="29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uninterrupted focus.</a:t>
            </a: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290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priority: client work.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103120"/>
            <a:ext cx="4782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WORK RULES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675120" y="232257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2779166"/>
            <a:ext cx="100584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12864" y="2596896"/>
            <a:ext cx="4544568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Silent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75120" y="3151022"/>
            <a:ext cx="100584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12864" y="2968752"/>
            <a:ext cx="4544568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Desk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3522878"/>
            <a:ext cx="100584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12864" y="3340608"/>
            <a:ext cx="4544568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Ready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3894734"/>
            <a:ext cx="100584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12864" y="3712464"/>
            <a:ext cx="4544568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4266590"/>
            <a:ext cx="100584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12864" y="4084320"/>
            <a:ext cx="4544568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Notifications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4638446"/>
            <a:ext cx="100584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12864" y="4456176"/>
            <a:ext cx="4544568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Multitasking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53212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 is a business asset. Protect it.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1520" y="6053328"/>
            <a:ext cx="4114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6053328"/>
            <a:ext cx="29801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9538" y="6053328"/>
            <a:ext cx="149009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78547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72602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96116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01927" y="6053328"/>
            <a:ext cx="44702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48954" y="6053328"/>
            <a:ext cx="122932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78279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72334" y="6053328"/>
            <a:ext cx="894055" cy="1234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389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78145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01659" y="6053328"/>
            <a:ext cx="335270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36930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48686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60443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83957" y="6053328"/>
            <a:ext cx="3576218" cy="123444"/>
          </a:xfrm>
          <a:prstGeom prst="rect">
            <a:avLst/>
          </a:prstGeom>
          <a:solidFill>
            <a:srgbClr val="131C1F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045041" y="5833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PM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330189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PM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509000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AM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6878117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AM · WORK ENDS</a:t>
            </a:r>
            <a:endParaRPr lang="en-US" sz="700" dirty="0"/>
          </a:p>
        </p:txBody>
      </p:sp>
      <p:sp>
        <p:nvSpPr>
          <p:cNvPr id="48" name="Text 46"/>
          <p:cNvSpPr txBox="1"/>
          <p:nvPr/>
        </p:nvSpPr>
        <p:spPr>
          <a:xfrm>
            <a:off x="9448495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H SLEEP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0" y="6837883"/>
            <a:ext cx="5841854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DAILY OPERATING SYSTEM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solidFill>
            <a:srgbClr val="0B0F10"/>
          </a:solidFill>
          <a:ln w="11430">
            <a:solidFill>
              <a:srgbClr val="04A2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2:30 – 2:45 AM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207008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Work Break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minutes.</a:t>
            </a:r>
            <a:endParaRPr lang="en-US" sz="29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Completely offline.</a:t>
            </a: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103120"/>
            <a:ext cx="4782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AWAY FROM THE SCREEN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675120" y="232257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468880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291185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2939288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3382264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3409696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 Water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3852672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3880104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Breathe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5120" y="4323080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4350512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Your Eyes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75120" y="4793488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553212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Don’t turn a 15-minute break into a social media session. Pause → Reset → Continue.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1520" y="6053328"/>
            <a:ext cx="4114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6053328"/>
            <a:ext cx="29801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9538" y="6053328"/>
            <a:ext cx="149009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78547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72602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96116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01927" y="6053328"/>
            <a:ext cx="44702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48954" y="6053328"/>
            <a:ext cx="122932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78279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72334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389" y="6053328"/>
            <a:ext cx="111757" cy="1234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78145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01659" y="6053328"/>
            <a:ext cx="335270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36930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48686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60443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83957" y="6053328"/>
            <a:ext cx="3576218" cy="123444"/>
          </a:xfrm>
          <a:prstGeom prst="rect">
            <a:avLst/>
          </a:prstGeom>
          <a:solidFill>
            <a:srgbClr val="131C1F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47947" y="5833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731520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PM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330189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PM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509000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AM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6878117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AM · WORK ENDS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9448495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H SLEEP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0" y="6837883"/>
            <a:ext cx="6095848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DAILY OPERATING SYSTEM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solidFill>
            <a:srgbClr val="0B0F10"/>
          </a:solidFill>
          <a:ln w="11430">
            <a:solidFill>
              <a:srgbClr val="04A2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2:45 – 3:15 AM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207008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to Build Your Mind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</a:t>
            </a:r>
            <a:endParaRPr lang="en-US" sz="29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day.</a:t>
            </a: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103120"/>
            <a:ext cx="4782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AREAS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675120" y="232257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468880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291185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2939288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3382264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3409696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3852672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3880104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5120" y="4323080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4350512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Growth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75120" y="4793488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553212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goal is not to finish books. Read → Reflect → Apply.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1520" y="6053328"/>
            <a:ext cx="4114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6053328"/>
            <a:ext cx="29801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9538" y="6053328"/>
            <a:ext cx="149009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78547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72602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96116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01927" y="6053328"/>
            <a:ext cx="44702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48954" y="6053328"/>
            <a:ext cx="122932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78279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72334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389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78145" y="6053328"/>
            <a:ext cx="223514" cy="1234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01659" y="6053328"/>
            <a:ext cx="335270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36930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48686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60443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83957" y="6053328"/>
            <a:ext cx="3576218" cy="123444"/>
          </a:xfrm>
          <a:prstGeom prst="rect">
            <a:avLst/>
          </a:prstGeom>
          <a:solidFill>
            <a:srgbClr val="131C1F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15582" y="5833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731520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PM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330189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PM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509000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AM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6878117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AM · WORK ENDS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9448495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H SLEEP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0" y="6837883"/>
            <a:ext cx="6349841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DAILY OPERATING SYSTEM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solidFill>
            <a:srgbClr val="0B0F10"/>
          </a:solidFill>
          <a:ln w="11430">
            <a:solidFill>
              <a:srgbClr val="04A2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3:15 – 4:00 AM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207008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Future Value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DAYS A WEEK · BUILD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731520" y="2551176"/>
            <a:ext cx="512064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697480"/>
            <a:ext cx="5120640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140456"/>
            <a:ext cx="512064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167888"/>
            <a:ext cx="5120640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610864"/>
            <a:ext cx="512064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638296"/>
            <a:ext cx="5120640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Fiverr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081272"/>
            <a:ext cx="512064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08704"/>
            <a:ext cx="5120640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551680"/>
            <a:ext cx="512064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579112"/>
            <a:ext cx="5120640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Client Acquisition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5022088"/>
            <a:ext cx="512064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2103120"/>
            <a:ext cx="4782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 DAYS · DELIVER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675120" y="232257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2468880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Client Work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0" y="291185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2939288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Revision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75120" y="3382264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3409696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Practice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75120" y="3852672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553212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work builds today’s business. Your brand and network build tomorrow’s.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1520" y="6053328"/>
            <a:ext cx="4114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6053328"/>
            <a:ext cx="29801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9538" y="6053328"/>
            <a:ext cx="149009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78547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72602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96116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01927" y="6053328"/>
            <a:ext cx="44702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48954" y="6053328"/>
            <a:ext cx="122932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78279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72334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66389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78145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01659" y="6053328"/>
            <a:ext cx="335270" cy="1234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36930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48686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60443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83957" y="6053328"/>
            <a:ext cx="3576218" cy="123444"/>
          </a:xfrm>
          <a:prstGeom prst="rect">
            <a:avLst/>
          </a:prstGeom>
          <a:solidFill>
            <a:srgbClr val="131C1F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994974" y="5833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731520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PM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330189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PM</a:t>
            </a:r>
            <a:endParaRPr lang="en-US" sz="700" dirty="0"/>
          </a:p>
        </p:txBody>
      </p:sp>
      <p:sp>
        <p:nvSpPr>
          <p:cNvPr id="50" name="Text 48"/>
          <p:cNvSpPr txBox="1"/>
          <p:nvPr/>
        </p:nvSpPr>
        <p:spPr>
          <a:xfrm>
            <a:off x="509000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AM</a:t>
            </a:r>
            <a:endParaRPr lang="en-US" sz="700" dirty="0"/>
          </a:p>
        </p:txBody>
      </p:sp>
      <p:sp>
        <p:nvSpPr>
          <p:cNvPr id="51" name="Text 49"/>
          <p:cNvSpPr txBox="1"/>
          <p:nvPr/>
        </p:nvSpPr>
        <p:spPr>
          <a:xfrm>
            <a:off x="6878117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AM · WORK ENDS</a:t>
            </a:r>
            <a:endParaRPr lang="en-US" sz="700" dirty="0"/>
          </a:p>
        </p:txBody>
      </p:sp>
      <p:sp>
        <p:nvSpPr>
          <p:cNvPr id="52" name="Text 50"/>
          <p:cNvSpPr txBox="1"/>
          <p:nvPr/>
        </p:nvSpPr>
        <p:spPr>
          <a:xfrm>
            <a:off x="9448495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H SLEEP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0" y="6837883"/>
            <a:ext cx="6603835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DAILY OPERATING SYSTEM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solidFill>
            <a:srgbClr val="0B0F10"/>
          </a:solidFill>
          <a:ln w="11430">
            <a:solidFill>
              <a:srgbClr val="04A2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4:00 – 4:15 AM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207008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Your Workday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PROFESSIONAL SHUTDOWN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731520" y="2551176"/>
            <a:ext cx="512064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862072"/>
            <a:ext cx="960501" cy="5491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862072"/>
            <a:ext cx="960501" cy="549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692021" y="2862072"/>
            <a:ext cx="274320" cy="549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66341" y="2862072"/>
            <a:ext cx="1153668" cy="5491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66341" y="2862072"/>
            <a:ext cx="1153668" cy="549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120009" y="2862072"/>
            <a:ext cx="274320" cy="549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94329" y="2862072"/>
            <a:ext cx="1250252" cy="5491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94329" y="2862072"/>
            <a:ext cx="1250252" cy="549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2103120"/>
            <a:ext cx="4782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675120" y="232257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2651760"/>
            <a:ext cx="4782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I actually</a:t>
            </a:r>
            <a:endParaRPr lang="en-US" sz="2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today?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376732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Not: what did I intend to complete?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53212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Unfinished tasks create mental noise. Close the loops before you close the laptop.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1520" y="6053328"/>
            <a:ext cx="4114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6053328"/>
            <a:ext cx="29801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9538" y="6053328"/>
            <a:ext cx="149009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8547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72602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96116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01927" y="6053328"/>
            <a:ext cx="44702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48954" y="6053328"/>
            <a:ext cx="122932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78279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72334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389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78145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01659" y="6053328"/>
            <a:ext cx="335270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36930" y="6053328"/>
            <a:ext cx="111757" cy="1234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48686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60443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83957" y="6053328"/>
            <a:ext cx="3576218" cy="123444"/>
          </a:xfrm>
          <a:prstGeom prst="rect">
            <a:avLst/>
          </a:prstGeom>
          <a:solidFill>
            <a:srgbClr val="131C1F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18488" y="5833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731520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PM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330189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PM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509000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AM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6878117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AM · WORK ENDS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9448495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H SLEEP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0" y="6837883"/>
            <a:ext cx="6857829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DAILY OPERATING SYSTEM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solidFill>
            <a:srgbClr val="0B0F10"/>
          </a:solidFill>
          <a:ln w="11430">
            <a:solidFill>
              <a:srgbClr val="04A2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4:15 – 4:30 AM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207008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Tomorrow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Tomorrow’s Top 3.</a:t>
            </a: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9008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important task first. Then review your calendar, commitments and pending priorities.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103120"/>
            <a:ext cx="4782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WRITTEN BEFORE SLEEP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675120" y="232257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24688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75120" y="2852928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29718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3355848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3474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75120" y="3858768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53212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Don’t wake up searching for direction. Wake up with a starting point.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6053328"/>
            <a:ext cx="4114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6053328"/>
            <a:ext cx="29801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9538" y="6053328"/>
            <a:ext cx="149009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8547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72602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96116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01927" y="6053328"/>
            <a:ext cx="44702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8954" y="6053328"/>
            <a:ext cx="122932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78279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72334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389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78145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01659" y="6053328"/>
            <a:ext cx="335270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36930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48686" y="6053328"/>
            <a:ext cx="111757" cy="1234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60443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83957" y="6053328"/>
            <a:ext cx="3576218" cy="123444"/>
          </a:xfrm>
          <a:prstGeom prst="rect">
            <a:avLst/>
          </a:prstGeom>
          <a:solidFill>
            <a:srgbClr val="131C1F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30245" y="5833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731520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PM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330189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PM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509000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AM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6878117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AM · WORK ENDS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9448495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H SLEEP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0" y="6837883"/>
            <a:ext cx="7111822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DAILY OPERATING SYSTEM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solidFill>
            <a:srgbClr val="0B0F10"/>
          </a:solidFill>
          <a:ln w="11430">
            <a:solidFill>
              <a:srgbClr val="04A2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4:30 – 5:00 AM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207008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Your Recovery Window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ends.</a:t>
            </a:r>
            <a:endParaRPr lang="en-US" sz="29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begins.</a:t>
            </a: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103120"/>
            <a:ext cx="4782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SHUTDOWN SEQUENCE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675120" y="232257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4688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095744" y="24688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Laptop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793992" y="2743200"/>
            <a:ext cx="7315" cy="164592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29260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095744" y="29260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Notifications Off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93992" y="3200400"/>
            <a:ext cx="7315" cy="164592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33832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095744" y="33832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the Desk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793992" y="3657600"/>
            <a:ext cx="7315" cy="164592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38404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7095744" y="38404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Fajr Prayer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793992" y="4114800"/>
            <a:ext cx="7315" cy="164592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0" y="42976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7095744" y="42976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for Sleep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53212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a shutdown boundary, work follows you into bed.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31520" y="6053328"/>
            <a:ext cx="4114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6053328"/>
            <a:ext cx="29801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9538" y="6053328"/>
            <a:ext cx="149009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78547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72602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96116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01927" y="6053328"/>
            <a:ext cx="44702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48954" y="6053328"/>
            <a:ext cx="122932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78279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72334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66389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78145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01659" y="6053328"/>
            <a:ext cx="335270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36930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48686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60443" y="6053328"/>
            <a:ext cx="223514" cy="1234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3957" y="6053328"/>
            <a:ext cx="3576218" cy="123444"/>
          </a:xfrm>
          <a:prstGeom prst="rect">
            <a:avLst/>
          </a:prstGeom>
          <a:solidFill>
            <a:srgbClr val="131C1F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97880" y="5833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731520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PM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330189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PM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509000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AM</a:t>
            </a:r>
            <a:endParaRPr lang="en-US" sz="700" dirty="0"/>
          </a:p>
        </p:txBody>
      </p:sp>
      <p:sp>
        <p:nvSpPr>
          <p:cNvPr id="48" name="Text 46"/>
          <p:cNvSpPr txBox="1"/>
          <p:nvPr/>
        </p:nvSpPr>
        <p:spPr>
          <a:xfrm>
            <a:off x="6878117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AM · WORK ENDS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9448495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H SLEEP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0" y="6837883"/>
            <a:ext cx="7365816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DAILY OPERATING SYSTEM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solidFill>
            <a:srgbClr val="0B0F10"/>
          </a:solidFill>
          <a:ln w="11430">
            <a:solidFill>
              <a:srgbClr val="04A2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86868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5:00 AM – 1:00 PM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207008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Consistently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hours.</a:t>
            </a:r>
            <a:endParaRPr lang="en-US" sz="29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Protected.</a:t>
            </a: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103120"/>
            <a:ext cx="4782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 RULES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675120" y="232257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468880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Time Each Night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2911856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2939288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Sufficient Sleep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3382264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3409696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Recovery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3852672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3880104"/>
            <a:ext cx="4782312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Shift Earlier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5120" y="4323080"/>
            <a:ext cx="478231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53212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objective is not to glorify sleeping at 5 AM. It is to protect recovery while you shift.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31520" y="6053328"/>
            <a:ext cx="4114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6053328"/>
            <a:ext cx="298018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9538" y="6053328"/>
            <a:ext cx="149009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8547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72602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96116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01927" y="6053328"/>
            <a:ext cx="44702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48954" y="6053328"/>
            <a:ext cx="122932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78279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72334" y="6053328"/>
            <a:ext cx="894055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389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8145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01659" y="6053328"/>
            <a:ext cx="335270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36930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48686" y="6053328"/>
            <a:ext cx="111757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60443" y="6053328"/>
            <a:ext cx="223514" cy="123444"/>
          </a:xfrm>
          <a:prstGeom prst="rect">
            <a:avLst/>
          </a:prstGeom>
          <a:solidFill>
            <a:srgbClr val="18272B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83957" y="6053328"/>
            <a:ext cx="3576218" cy="123444"/>
          </a:xfrm>
          <a:prstGeom prst="rect">
            <a:avLst/>
          </a:prstGeom>
          <a:solidFill>
            <a:srgbClr val="04A2B8"/>
          </a:solidFill>
          <a:ln w="9525">
            <a:solidFill>
              <a:srgbClr val="0B0F1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397746" y="5833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731520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PM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330189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PM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5090008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AM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6878117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AM · WORK ENDS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9448495" y="62407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1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H SLEEP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0" y="6837883"/>
            <a:ext cx="7619810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DAILY OPERATING SYSTEM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2588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ASCENSION DAILY LOOP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09928"/>
            <a:ext cx="10728655" cy="566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Eighteen moves. Then repeat.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731520" y="2696972"/>
            <a:ext cx="797052" cy="5618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696972"/>
            <a:ext cx="797052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28572" y="2696972"/>
            <a:ext cx="274320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02892" y="2696972"/>
            <a:ext cx="901065" cy="5618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02892" y="2696972"/>
            <a:ext cx="901065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03957" y="2696972"/>
            <a:ext cx="274320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78277" y="2696972"/>
            <a:ext cx="797052" cy="5618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78277" y="2696972"/>
            <a:ext cx="797052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75329" y="2696972"/>
            <a:ext cx="274320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49649" y="2696972"/>
            <a:ext cx="901065" cy="5618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49649" y="2696972"/>
            <a:ext cx="901065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950714" y="2696972"/>
            <a:ext cx="274320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25034" y="2696972"/>
            <a:ext cx="1109091" cy="5618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25034" y="2696972"/>
            <a:ext cx="1109091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34125" y="2696972"/>
            <a:ext cx="274320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08445" y="2696972"/>
            <a:ext cx="797052" cy="5618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08445" y="2696972"/>
            <a:ext cx="797052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3441700"/>
            <a:ext cx="1525143" cy="5618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3441700"/>
            <a:ext cx="1525143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256663" y="3441700"/>
            <a:ext cx="274320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30983" y="3441700"/>
            <a:ext cx="797052" cy="5618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30983" y="3441700"/>
            <a:ext cx="797052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328035" y="3441700"/>
            <a:ext cx="274320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02355" y="3441700"/>
            <a:ext cx="901065" cy="5618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02355" y="3441700"/>
            <a:ext cx="901065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503420" y="3441700"/>
            <a:ext cx="274320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77740" y="3441700"/>
            <a:ext cx="901065" cy="5618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77740" y="3441700"/>
            <a:ext cx="901065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678805" y="3441700"/>
            <a:ext cx="274320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53125" y="3441700"/>
            <a:ext cx="1109091" cy="5618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53125" y="3441700"/>
            <a:ext cx="1109091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062216" y="3441700"/>
            <a:ext cx="274320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336536" y="3441700"/>
            <a:ext cx="901065" cy="5618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36536" y="3441700"/>
            <a:ext cx="901065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31520" y="4186428"/>
            <a:ext cx="797052" cy="5618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1520" y="4186428"/>
            <a:ext cx="797052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528572" y="4186428"/>
            <a:ext cx="274320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802892" y="4186428"/>
            <a:ext cx="901065" cy="5618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802892" y="4186428"/>
            <a:ext cx="901065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2703957" y="4186428"/>
            <a:ext cx="274320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978277" y="4186428"/>
            <a:ext cx="901065" cy="5618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978277" y="4186428"/>
            <a:ext cx="901065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3879342" y="4186428"/>
            <a:ext cx="274320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153662" y="4186428"/>
            <a:ext cx="1005078" cy="5618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153662" y="4186428"/>
            <a:ext cx="1005078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5158740" y="4186428"/>
            <a:ext cx="274320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433060" y="4186428"/>
            <a:ext cx="1109091" cy="5618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433060" y="4186428"/>
            <a:ext cx="1109091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42151" y="4186428"/>
            <a:ext cx="274320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816471" y="4186428"/>
            <a:ext cx="901065" cy="5618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816471" y="4186428"/>
            <a:ext cx="901065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31520" y="5022596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↻   Sleep feeds back into Wake. The loop is the system.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0" y="6837883"/>
            <a:ext cx="7873803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DAILY OPERATING SYSTEM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OPERATING RULES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 MEDIA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31520" y="2093976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40280"/>
            <a:ext cx="5029200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the first 40 minutes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683256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710688"/>
            <a:ext cx="5029200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during Priority Focus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153664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181096"/>
            <a:ext cx="5029200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during Deep Work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624072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651504"/>
            <a:ext cx="5029200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only in the Life block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094480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121912"/>
            <a:ext cx="5029200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minutes maximum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564888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82092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social media. Don’t let social media use you.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8745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COMMUNICATION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400800" y="2093976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2240280"/>
            <a:ext cx="5029200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reply all day long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2683256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2710688"/>
            <a:ext cx="5029200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dedicated communication blocks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3153664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3181096"/>
            <a:ext cx="5029200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messages wherever possible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3624072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0" y="3651504"/>
            <a:ext cx="5029200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issues can override the system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4094480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4121912"/>
            <a:ext cx="5029200" cy="41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loops before shutdown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0" y="4564888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48209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Endless scrolling is not recovery.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6837883"/>
            <a:ext cx="8127797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5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38528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036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27248"/>
            <a:ext cx="5669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200" b="1" dirty="0">
                <a:solidFill>
                  <a:srgbClr val="07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Weekly Tracker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171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should we lock and track our weekly time?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0" y="2057400"/>
            <a:ext cx="7315" cy="2697480"/>
          </a:xfrm>
          <a:prstGeom prst="rect">
            <a:avLst/>
          </a:prstGeom>
          <a:solidFill>
            <a:srgbClr val="CBDD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514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Philosophy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Daily Operating System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036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Weekly Tracker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Improvement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4343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837883"/>
            <a:ext cx="8381790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THE WEEKLY TRACKER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STRUCTURE TO VISIBILITY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55648"/>
            <a:ext cx="10728655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6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daily system</a:t>
            </a:r>
            <a:endParaRPr lang="en-US" sz="36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36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you </a:t>
            </a:r>
            <a:pPr indent="0" marL="0">
              <a:lnSpc>
                <a:spcPct val="96000"/>
              </a:lnSpc>
              <a:buNone/>
            </a:pPr>
            <a:r>
              <a:rPr lang="en-US" sz="3600" b="1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pPr indent="0" marL="0">
              <a:lnSpc>
                <a:spcPct val="96000"/>
              </a:lnSpc>
              <a:buNone/>
            </a:pPr>
            <a:r>
              <a:rPr lang="en-US" sz="36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6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36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weekly tracker</a:t>
            </a:r>
            <a:endParaRPr lang="en-US" sz="36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36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you </a:t>
            </a:r>
            <a:pPr indent="0" marL="0">
              <a:lnSpc>
                <a:spcPct val="96000"/>
              </a:lnSpc>
              <a:buNone/>
            </a:pPr>
            <a:r>
              <a:rPr lang="en-US" sz="3600" b="1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</a:t>
            </a:r>
            <a:pPr indent="0" marL="0">
              <a:lnSpc>
                <a:spcPct val="96000"/>
              </a:lnSpc>
              <a:buNone/>
            </a:pPr>
            <a:r>
              <a:rPr lang="en-US" sz="36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0" y="6837883"/>
            <a:ext cx="8635784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THE WEEKLY TRACKER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LOCK YOUR WEEKLY TIME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572768"/>
            <a:ext cx="1072865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don’t allocate your time,</a:t>
            </a:r>
            <a:endParaRPr lang="en-US" sz="33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else will.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731520" y="302971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3273044"/>
            <a:ext cx="68580" cy="68580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7552" y="3029712"/>
            <a:ext cx="10472623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Important Time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5986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842004"/>
            <a:ext cx="68580" cy="68580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3598672"/>
            <a:ext cx="10472623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Priorities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16763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4410964"/>
            <a:ext cx="68580" cy="68580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4167632"/>
            <a:ext cx="10472623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Random Decisions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73659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979924"/>
            <a:ext cx="68580" cy="68580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4736592"/>
            <a:ext cx="10472623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Accountability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530555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5548884"/>
            <a:ext cx="68580" cy="68580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5305552"/>
            <a:ext cx="10472623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Time Visible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587451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837883"/>
            <a:ext cx="8889778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THE WEEKLY TRACKER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WEEKLY LOOP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572768"/>
            <a:ext cx="10728655" cy="566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weekly time blocking matters.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0553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THE WEEK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31520" y="2824988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7129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" y="2971292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Your Week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50392" y="3245612"/>
            <a:ext cx="7315" cy="164592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42849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" y="3428492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Structure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50392" y="3702812"/>
            <a:ext cx="7315" cy="164592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88569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3885692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Your Actual Time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60553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THE WEEK BACK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400800" y="2824988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297129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821424" y="2971292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Imbalance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19672" y="3245612"/>
            <a:ext cx="7315" cy="164592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342849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821424" y="3428492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Better Decisions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519672" y="3702812"/>
            <a:ext cx="7315" cy="164592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388569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821424" y="3885692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Next Week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480052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↻   06 feeds back into 01. The loop is the system.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837883"/>
            <a:ext cx="9143771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THE WEEKLY TRACKER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4300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SCORECARD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527048"/>
            <a:ext cx="10728655" cy="566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numbers. Every week.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0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5140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31520" y="2751836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806700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Work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80670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25–30 hours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35884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190748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319074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10–12 hours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19932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574796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357479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3.5+ hours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903980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958844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395884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days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288028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342892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Branding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46120" y="43428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sessions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672076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25140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8915400" y="25140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400800" y="2751836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0" y="2806700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Prayer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915400" y="280670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daily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3135884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3190748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Time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915400" y="319074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3519932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0" y="3574796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Social Media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915400" y="357479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 45 minutes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0" y="3903980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0" y="3958844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915400" y="395884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Consistent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00800" y="4288028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837883"/>
            <a:ext cx="9397765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THE WEEKLY TRACKER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5156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TIME. SEE REALITY.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35608"/>
            <a:ext cx="10728655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2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your week really look like?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31520" y="2272284"/>
            <a:ext cx="393192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391156"/>
            <a:ext cx="100584" cy="10058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290572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290572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610612"/>
            <a:ext cx="393192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2729484"/>
            <a:ext cx="100584" cy="10058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262890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Work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262890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948940"/>
            <a:ext cx="393192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3067812"/>
            <a:ext cx="100584" cy="100584"/>
          </a:xfrm>
          <a:prstGeom prst="rect">
            <a:avLst/>
          </a:prstGeom>
          <a:solidFill>
            <a:srgbClr val="8FD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296722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&amp; Reset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296722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287268"/>
            <a:ext cx="393192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406140"/>
            <a:ext cx="100584" cy="100584"/>
          </a:xfrm>
          <a:prstGeom prst="rect">
            <a:avLst/>
          </a:prstGeom>
          <a:solidFill>
            <a:srgbClr val="0E6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3305556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&amp; Personal Life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3305556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625596"/>
            <a:ext cx="393192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3744468"/>
            <a:ext cx="100584" cy="100584"/>
          </a:xfrm>
          <a:prstGeom prst="rect">
            <a:avLst/>
          </a:prstGeom>
          <a:solidFill>
            <a:srgbClr val="B9E7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" y="3643884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&amp; Reading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749040" y="364388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3963924"/>
            <a:ext cx="393192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4082796"/>
            <a:ext cx="100584" cy="100584"/>
          </a:xfrm>
          <a:prstGeom prst="rect">
            <a:avLst/>
          </a:prstGeom>
          <a:solidFill>
            <a:srgbClr val="136F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5840" y="3982212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&amp; Health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749040" y="3982212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4302252"/>
            <a:ext cx="393192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" y="4421124"/>
            <a:ext cx="100584" cy="100584"/>
          </a:xfrm>
          <a:prstGeom prst="rect">
            <a:avLst/>
          </a:prstGeom>
          <a:solidFill>
            <a:srgbClr val="5FCB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5840" y="432054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Branding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3749040" y="432054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4640580"/>
            <a:ext cx="393192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" y="4759452"/>
            <a:ext cx="100584" cy="100584"/>
          </a:xfrm>
          <a:prstGeom prst="rect">
            <a:avLst/>
          </a:prstGeom>
          <a:solidFill>
            <a:srgbClr val="2A3234"/>
          </a:solidFill>
          <a:ln w="9525">
            <a:solidFill>
              <a:srgbClr val="8A969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05840" y="465886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/ Unassigned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3749040" y="465886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1520" y="4978908"/>
            <a:ext cx="393192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1520" y="51800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example week, built from the Weekly Scorecard targets. Yours will look different.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074920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41811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08701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75592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42482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9373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76263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43154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10044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76934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43825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10715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77606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44497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11387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78278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345168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612059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878949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145840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412730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679621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946511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213401" y="2363724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74920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41811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608701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75592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42482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9373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676263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943154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210044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476934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743825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010715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277606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44497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811387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078278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345168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612059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878949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145840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412730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679621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946511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213401" y="263061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074920" y="289750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341811" y="289750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608701" y="289750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75592" y="289750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42482" y="289750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409373" y="289750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76263" y="289750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943154" y="2897505"/>
            <a:ext cx="246774" cy="246774"/>
          </a:xfrm>
          <a:prstGeom prst="rect">
            <a:avLst/>
          </a:prstGeom>
          <a:solidFill>
            <a:srgbClr val="E5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210044" y="2897505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76934" y="2897505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43825" y="2897505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010715" y="2897505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277606" y="2897505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544497" y="2897505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811387" y="2897505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078278" y="2897505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345168" y="2897505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612059" y="2897505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878949" y="2897505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145840" y="2897505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412730" y="2897505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679621" y="2897505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946511" y="2897505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1213401" y="2897505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074920" y="3164396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341811" y="3164396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608701" y="3164396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875592" y="3164396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142482" y="3164396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409373" y="3164396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676263" y="3164396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943154" y="3164396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210044" y="3164396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476934" y="3164396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743825" y="3164396"/>
            <a:ext cx="246774" cy="246774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010715" y="3164396"/>
            <a:ext cx="246774" cy="246774"/>
          </a:xfrm>
          <a:prstGeom prst="rect">
            <a:avLst/>
          </a:prstGeom>
          <a:solidFill>
            <a:srgbClr val="8FD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277606" y="3164396"/>
            <a:ext cx="246774" cy="246774"/>
          </a:xfrm>
          <a:prstGeom prst="rect">
            <a:avLst/>
          </a:prstGeom>
          <a:solidFill>
            <a:srgbClr val="8FD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544497" y="3164396"/>
            <a:ext cx="246774" cy="246774"/>
          </a:xfrm>
          <a:prstGeom prst="rect">
            <a:avLst/>
          </a:prstGeom>
          <a:solidFill>
            <a:srgbClr val="8FD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811387" y="3164396"/>
            <a:ext cx="246774" cy="246774"/>
          </a:xfrm>
          <a:prstGeom prst="rect">
            <a:avLst/>
          </a:prstGeom>
          <a:solidFill>
            <a:srgbClr val="8FD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078278" y="3164396"/>
            <a:ext cx="246774" cy="246774"/>
          </a:xfrm>
          <a:prstGeom prst="rect">
            <a:avLst/>
          </a:prstGeom>
          <a:solidFill>
            <a:srgbClr val="8FD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345168" y="3164396"/>
            <a:ext cx="246774" cy="246774"/>
          </a:xfrm>
          <a:prstGeom prst="rect">
            <a:avLst/>
          </a:prstGeom>
          <a:solidFill>
            <a:srgbClr val="8FD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612059" y="3164396"/>
            <a:ext cx="246774" cy="246774"/>
          </a:xfrm>
          <a:prstGeom prst="rect">
            <a:avLst/>
          </a:prstGeom>
          <a:solidFill>
            <a:srgbClr val="8FD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878949" y="3164396"/>
            <a:ext cx="246774" cy="246774"/>
          </a:xfrm>
          <a:prstGeom prst="rect">
            <a:avLst/>
          </a:prstGeom>
          <a:solidFill>
            <a:srgbClr val="8FD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0145840" y="3164396"/>
            <a:ext cx="246774" cy="246774"/>
          </a:xfrm>
          <a:prstGeom prst="rect">
            <a:avLst/>
          </a:prstGeom>
          <a:solidFill>
            <a:srgbClr val="8FD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0412730" y="3164396"/>
            <a:ext cx="246774" cy="246774"/>
          </a:xfrm>
          <a:prstGeom prst="rect">
            <a:avLst/>
          </a:prstGeom>
          <a:solidFill>
            <a:srgbClr val="8FD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679621" y="3164396"/>
            <a:ext cx="246774" cy="246774"/>
          </a:xfrm>
          <a:prstGeom prst="rect">
            <a:avLst/>
          </a:prstGeom>
          <a:solidFill>
            <a:srgbClr val="8FD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946511" y="3164396"/>
            <a:ext cx="246774" cy="246774"/>
          </a:xfrm>
          <a:prstGeom prst="rect">
            <a:avLst/>
          </a:prstGeom>
          <a:solidFill>
            <a:srgbClr val="8FD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1213401" y="3164396"/>
            <a:ext cx="246774" cy="246774"/>
          </a:xfrm>
          <a:prstGeom prst="rect">
            <a:avLst/>
          </a:prstGeom>
          <a:solidFill>
            <a:srgbClr val="8FD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074920" y="3431286"/>
            <a:ext cx="246774" cy="246774"/>
          </a:xfrm>
          <a:prstGeom prst="rect">
            <a:avLst/>
          </a:prstGeom>
          <a:solidFill>
            <a:srgbClr val="8FD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341811" y="3431286"/>
            <a:ext cx="246774" cy="246774"/>
          </a:xfrm>
          <a:prstGeom prst="rect">
            <a:avLst/>
          </a:prstGeom>
          <a:solidFill>
            <a:srgbClr val="8FD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608701" y="3431286"/>
            <a:ext cx="246774" cy="246774"/>
          </a:xfrm>
          <a:prstGeom prst="rect">
            <a:avLst/>
          </a:prstGeom>
          <a:solidFill>
            <a:srgbClr val="8FD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875592" y="3431286"/>
            <a:ext cx="246774" cy="246774"/>
          </a:xfrm>
          <a:prstGeom prst="rect">
            <a:avLst/>
          </a:prstGeom>
          <a:solidFill>
            <a:srgbClr val="8FD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142482" y="3431286"/>
            <a:ext cx="246774" cy="246774"/>
          </a:xfrm>
          <a:prstGeom prst="rect">
            <a:avLst/>
          </a:prstGeom>
          <a:solidFill>
            <a:srgbClr val="8FD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409373" y="3431286"/>
            <a:ext cx="246774" cy="246774"/>
          </a:xfrm>
          <a:prstGeom prst="rect">
            <a:avLst/>
          </a:prstGeom>
          <a:solidFill>
            <a:srgbClr val="8FD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676263" y="3431286"/>
            <a:ext cx="246774" cy="246774"/>
          </a:xfrm>
          <a:prstGeom prst="rect">
            <a:avLst/>
          </a:prstGeom>
          <a:solidFill>
            <a:srgbClr val="0E6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943154" y="3431286"/>
            <a:ext cx="246774" cy="246774"/>
          </a:xfrm>
          <a:prstGeom prst="rect">
            <a:avLst/>
          </a:prstGeom>
          <a:solidFill>
            <a:srgbClr val="0E6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210044" y="3431286"/>
            <a:ext cx="246774" cy="246774"/>
          </a:xfrm>
          <a:prstGeom prst="rect">
            <a:avLst/>
          </a:prstGeom>
          <a:solidFill>
            <a:srgbClr val="0E6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476934" y="3431286"/>
            <a:ext cx="246774" cy="246774"/>
          </a:xfrm>
          <a:prstGeom prst="rect">
            <a:avLst/>
          </a:prstGeom>
          <a:solidFill>
            <a:srgbClr val="0E6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743825" y="3431286"/>
            <a:ext cx="246774" cy="246774"/>
          </a:xfrm>
          <a:prstGeom prst="rect">
            <a:avLst/>
          </a:prstGeom>
          <a:solidFill>
            <a:srgbClr val="0E6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010715" y="3431286"/>
            <a:ext cx="246774" cy="246774"/>
          </a:xfrm>
          <a:prstGeom prst="rect">
            <a:avLst/>
          </a:prstGeom>
          <a:solidFill>
            <a:srgbClr val="0E6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277606" y="3431286"/>
            <a:ext cx="246774" cy="246774"/>
          </a:xfrm>
          <a:prstGeom prst="rect">
            <a:avLst/>
          </a:prstGeom>
          <a:solidFill>
            <a:srgbClr val="0E6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544497" y="3431286"/>
            <a:ext cx="246774" cy="246774"/>
          </a:xfrm>
          <a:prstGeom prst="rect">
            <a:avLst/>
          </a:prstGeom>
          <a:solidFill>
            <a:srgbClr val="0E6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811387" y="3431286"/>
            <a:ext cx="246774" cy="246774"/>
          </a:xfrm>
          <a:prstGeom prst="rect">
            <a:avLst/>
          </a:prstGeom>
          <a:solidFill>
            <a:srgbClr val="0E6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078278" y="3431286"/>
            <a:ext cx="246774" cy="246774"/>
          </a:xfrm>
          <a:prstGeom prst="rect">
            <a:avLst/>
          </a:prstGeom>
          <a:solidFill>
            <a:srgbClr val="0E6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345168" y="3431286"/>
            <a:ext cx="246774" cy="246774"/>
          </a:xfrm>
          <a:prstGeom prst="rect">
            <a:avLst/>
          </a:prstGeom>
          <a:solidFill>
            <a:srgbClr val="0E6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612059" y="3431286"/>
            <a:ext cx="246774" cy="246774"/>
          </a:xfrm>
          <a:prstGeom prst="rect">
            <a:avLst/>
          </a:prstGeom>
          <a:solidFill>
            <a:srgbClr val="0E6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878949" y="3431286"/>
            <a:ext cx="246774" cy="246774"/>
          </a:xfrm>
          <a:prstGeom prst="rect">
            <a:avLst/>
          </a:prstGeom>
          <a:solidFill>
            <a:srgbClr val="0E6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145840" y="3431286"/>
            <a:ext cx="246774" cy="246774"/>
          </a:xfrm>
          <a:prstGeom prst="rect">
            <a:avLst/>
          </a:prstGeom>
          <a:solidFill>
            <a:srgbClr val="0E6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0412730" y="3431286"/>
            <a:ext cx="246774" cy="246774"/>
          </a:xfrm>
          <a:prstGeom prst="rect">
            <a:avLst/>
          </a:prstGeom>
          <a:solidFill>
            <a:srgbClr val="0E6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0679621" y="3431286"/>
            <a:ext cx="246774" cy="246774"/>
          </a:xfrm>
          <a:prstGeom prst="rect">
            <a:avLst/>
          </a:prstGeom>
          <a:solidFill>
            <a:srgbClr val="0E6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0946511" y="3431286"/>
            <a:ext cx="246774" cy="246774"/>
          </a:xfrm>
          <a:prstGeom prst="rect">
            <a:avLst/>
          </a:prstGeom>
          <a:solidFill>
            <a:srgbClr val="B9E7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1213401" y="3431286"/>
            <a:ext cx="246774" cy="246774"/>
          </a:xfrm>
          <a:prstGeom prst="rect">
            <a:avLst/>
          </a:prstGeom>
          <a:solidFill>
            <a:srgbClr val="B9E7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074920" y="3698177"/>
            <a:ext cx="246774" cy="246774"/>
          </a:xfrm>
          <a:prstGeom prst="rect">
            <a:avLst/>
          </a:prstGeom>
          <a:solidFill>
            <a:srgbClr val="B9E7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341811" y="3698177"/>
            <a:ext cx="246774" cy="246774"/>
          </a:xfrm>
          <a:prstGeom prst="rect">
            <a:avLst/>
          </a:prstGeom>
          <a:solidFill>
            <a:srgbClr val="B9E7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608701" y="3698177"/>
            <a:ext cx="246774" cy="246774"/>
          </a:xfrm>
          <a:prstGeom prst="rect">
            <a:avLst/>
          </a:prstGeom>
          <a:solidFill>
            <a:srgbClr val="B9E7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875592" y="3698177"/>
            <a:ext cx="246774" cy="246774"/>
          </a:xfrm>
          <a:prstGeom prst="rect">
            <a:avLst/>
          </a:prstGeom>
          <a:solidFill>
            <a:srgbClr val="B9E7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42482" y="3698177"/>
            <a:ext cx="246774" cy="246774"/>
          </a:xfrm>
          <a:prstGeom prst="rect">
            <a:avLst/>
          </a:prstGeom>
          <a:solidFill>
            <a:srgbClr val="B9E7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409373" y="3698177"/>
            <a:ext cx="246774" cy="246774"/>
          </a:xfrm>
          <a:prstGeom prst="rect">
            <a:avLst/>
          </a:prstGeom>
          <a:solidFill>
            <a:srgbClr val="B9E7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676263" y="3698177"/>
            <a:ext cx="246774" cy="246774"/>
          </a:xfrm>
          <a:prstGeom prst="rect">
            <a:avLst/>
          </a:prstGeom>
          <a:solidFill>
            <a:srgbClr val="B9E7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943154" y="3698177"/>
            <a:ext cx="246774" cy="246774"/>
          </a:xfrm>
          <a:prstGeom prst="rect">
            <a:avLst/>
          </a:prstGeom>
          <a:solidFill>
            <a:srgbClr val="B9E7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210044" y="3698177"/>
            <a:ext cx="246774" cy="246774"/>
          </a:xfrm>
          <a:prstGeom prst="rect">
            <a:avLst/>
          </a:prstGeom>
          <a:solidFill>
            <a:srgbClr val="B9E7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476934" y="3698177"/>
            <a:ext cx="246774" cy="246774"/>
          </a:xfrm>
          <a:prstGeom prst="rect">
            <a:avLst/>
          </a:prstGeom>
          <a:solidFill>
            <a:srgbClr val="B9E7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743825" y="3698177"/>
            <a:ext cx="246774" cy="246774"/>
          </a:xfrm>
          <a:prstGeom prst="rect">
            <a:avLst/>
          </a:prstGeom>
          <a:solidFill>
            <a:srgbClr val="B9E7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010715" y="3698177"/>
            <a:ext cx="246774" cy="246774"/>
          </a:xfrm>
          <a:prstGeom prst="rect">
            <a:avLst/>
          </a:prstGeom>
          <a:solidFill>
            <a:srgbClr val="B9E7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277606" y="3698177"/>
            <a:ext cx="246774" cy="246774"/>
          </a:xfrm>
          <a:prstGeom prst="rect">
            <a:avLst/>
          </a:prstGeom>
          <a:solidFill>
            <a:srgbClr val="B9E7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544497" y="3698177"/>
            <a:ext cx="246774" cy="246774"/>
          </a:xfrm>
          <a:prstGeom prst="rect">
            <a:avLst/>
          </a:prstGeom>
          <a:solidFill>
            <a:srgbClr val="136F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811387" y="3698177"/>
            <a:ext cx="246774" cy="246774"/>
          </a:xfrm>
          <a:prstGeom prst="rect">
            <a:avLst/>
          </a:prstGeom>
          <a:solidFill>
            <a:srgbClr val="136F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9078278" y="3698177"/>
            <a:ext cx="246774" cy="246774"/>
          </a:xfrm>
          <a:prstGeom prst="rect">
            <a:avLst/>
          </a:prstGeom>
          <a:solidFill>
            <a:srgbClr val="136F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9345168" y="3698177"/>
            <a:ext cx="246774" cy="246774"/>
          </a:xfrm>
          <a:prstGeom prst="rect">
            <a:avLst/>
          </a:prstGeom>
          <a:solidFill>
            <a:srgbClr val="136F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612059" y="3698177"/>
            <a:ext cx="246774" cy="246774"/>
          </a:xfrm>
          <a:prstGeom prst="rect">
            <a:avLst/>
          </a:prstGeom>
          <a:solidFill>
            <a:srgbClr val="136F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878949" y="3698177"/>
            <a:ext cx="246774" cy="246774"/>
          </a:xfrm>
          <a:prstGeom prst="rect">
            <a:avLst/>
          </a:prstGeom>
          <a:solidFill>
            <a:srgbClr val="136F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0145840" y="3698177"/>
            <a:ext cx="246774" cy="246774"/>
          </a:xfrm>
          <a:prstGeom prst="rect">
            <a:avLst/>
          </a:prstGeom>
          <a:solidFill>
            <a:srgbClr val="136F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0412730" y="3698177"/>
            <a:ext cx="246774" cy="246774"/>
          </a:xfrm>
          <a:prstGeom prst="rect">
            <a:avLst/>
          </a:prstGeom>
          <a:solidFill>
            <a:srgbClr val="136F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0679621" y="3698177"/>
            <a:ext cx="246774" cy="246774"/>
          </a:xfrm>
          <a:prstGeom prst="rect">
            <a:avLst/>
          </a:prstGeom>
          <a:solidFill>
            <a:srgbClr val="5FCB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0946511" y="3698177"/>
            <a:ext cx="246774" cy="246774"/>
          </a:xfrm>
          <a:prstGeom prst="rect">
            <a:avLst/>
          </a:prstGeom>
          <a:solidFill>
            <a:srgbClr val="5FCB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1213401" y="369817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5074920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341811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5608701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5875592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142482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409373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676263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943154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210044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476934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743825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8010715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8277606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544497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8811387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078278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345168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612059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878949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0145840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412730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679621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946511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1213401" y="3965067"/>
            <a:ext cx="246774" cy="246774"/>
          </a:xfrm>
          <a:prstGeom prst="rect">
            <a:avLst/>
          </a:prstGeom>
          <a:solidFill>
            <a:srgbClr val="2A3234"/>
          </a:solidFill>
          <a:ln w="9525">
            <a:solidFill>
              <a:srgbClr val="7E8C8E"/>
            </a:solidFill>
            <a:prstDash val="solid"/>
          </a:ln>
        </p:spPr>
      </p:sp>
      <p:sp>
        <p:nvSpPr>
          <p:cNvPr id="209" name="Text 207"/>
          <p:cNvSpPr txBox="1"/>
          <p:nvPr/>
        </p:nvSpPr>
        <p:spPr>
          <a:xfrm>
            <a:off x="5074920" y="4321569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3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CELL = ONE HOUR</a:t>
            </a:r>
            <a:endParaRPr lang="en-US" sz="700" dirty="0"/>
          </a:p>
        </p:txBody>
      </p:sp>
      <p:sp>
        <p:nvSpPr>
          <p:cNvPr id="210" name="Text 208"/>
          <p:cNvSpPr txBox="1"/>
          <p:nvPr/>
        </p:nvSpPr>
        <p:spPr>
          <a:xfrm>
            <a:off x="8716975" y="4321569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3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168 HOURS · 7 DAYS</a:t>
            </a:r>
            <a:endParaRPr lang="en-US" sz="700" dirty="0"/>
          </a:p>
        </p:txBody>
      </p:sp>
      <p:sp>
        <p:nvSpPr>
          <p:cNvPr id="211" name="Shape 209"/>
          <p:cNvSpPr/>
          <p:nvPr/>
        </p:nvSpPr>
        <p:spPr>
          <a:xfrm>
            <a:off x="0" y="6837883"/>
            <a:ext cx="9651759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THE WEEKLY TRACKER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5740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WEEKLY TIME PICTURE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week</a:t>
            </a:r>
            <a:endParaRPr lang="en-US" sz="3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questions.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5852160" y="1600200"/>
            <a:ext cx="560527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70448" y="1830832"/>
            <a:ext cx="68580" cy="68580"/>
          </a:xfrm>
          <a:prstGeom prst="rect">
            <a:avLst/>
          </a:prstGeom>
          <a:solidFill>
            <a:srgbClr val="5D6A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08192" y="1600200"/>
            <a:ext cx="5349240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hours did I work?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2143760"/>
            <a:ext cx="560527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2374392"/>
            <a:ext cx="68580" cy="68580"/>
          </a:xfrm>
          <a:prstGeom prst="rect">
            <a:avLst/>
          </a:prstGeom>
          <a:solidFill>
            <a:srgbClr val="5D6A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08192" y="2143760"/>
            <a:ext cx="5349240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hours did I sleep?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52160" y="2687320"/>
            <a:ext cx="560527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70448" y="2917952"/>
            <a:ext cx="68580" cy="68580"/>
          </a:xfrm>
          <a:prstGeom prst="rect">
            <a:avLst/>
          </a:prstGeom>
          <a:solidFill>
            <a:srgbClr val="5D6A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08192" y="2687320"/>
            <a:ext cx="5349240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time did I invest in growth?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52160" y="3230880"/>
            <a:ext cx="560527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70448" y="3461512"/>
            <a:ext cx="68580" cy="68580"/>
          </a:xfrm>
          <a:prstGeom prst="rect">
            <a:avLst/>
          </a:prstGeom>
          <a:solidFill>
            <a:srgbClr val="5D6A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08192" y="3230880"/>
            <a:ext cx="5349240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most of my time going?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52160" y="3774440"/>
            <a:ext cx="560527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70448" y="4005072"/>
            <a:ext cx="68580" cy="68580"/>
          </a:xfrm>
          <a:prstGeom prst="rect">
            <a:avLst/>
          </a:prstGeom>
          <a:solidFill>
            <a:srgbClr val="5D6A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08192" y="3774440"/>
            <a:ext cx="5349240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taking too much time?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52160" y="4318000"/>
            <a:ext cx="560527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70448" y="4548632"/>
            <a:ext cx="68580" cy="68580"/>
          </a:xfrm>
          <a:prstGeom prst="rect">
            <a:avLst/>
          </a:prstGeom>
          <a:solidFill>
            <a:srgbClr val="5D6A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08192" y="4318000"/>
            <a:ext cx="5349240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should I spend less?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52160" y="4861560"/>
            <a:ext cx="560527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70448" y="5092192"/>
            <a:ext cx="68580" cy="68580"/>
          </a:xfrm>
          <a:prstGeom prst="rect">
            <a:avLst/>
          </a:prstGeom>
          <a:solidFill>
            <a:srgbClr val="5D6A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08192" y="4861560"/>
            <a:ext cx="5349240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should I invest more?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852160" y="5405120"/>
            <a:ext cx="5605272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837883"/>
            <a:ext cx="9905752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5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38528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036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27248"/>
            <a:ext cx="5669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200" b="1" dirty="0">
                <a:solidFill>
                  <a:srgbClr val="07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Improvement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171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use weekly data to improve the system?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0" y="2057400"/>
            <a:ext cx="7315" cy="2697480"/>
          </a:xfrm>
          <a:prstGeom prst="rect">
            <a:avLst/>
          </a:prstGeom>
          <a:solidFill>
            <a:srgbClr val="CBDD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514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Philosophy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Daily Operating System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Weekly Tracker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036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Improvement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4343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837883"/>
            <a:ext cx="10159746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REVIEW &amp; IMPROVEMENT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&amp; IMPROVEMENT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75688"/>
            <a:ext cx="1072865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can’t optimise</a:t>
            </a:r>
            <a:endParaRPr lang="en-US" sz="33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can’t see.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731520" y="3715512"/>
            <a:ext cx="1644015" cy="5999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715512"/>
            <a:ext cx="1644015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375535" y="3715512"/>
            <a:ext cx="274320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49855" y="3715512"/>
            <a:ext cx="1517714" cy="5999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49855" y="3715512"/>
            <a:ext cx="1517714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167568" y="3715512"/>
            <a:ext cx="274320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1888" y="3715512"/>
            <a:ext cx="1391412" cy="5999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41888" y="3715512"/>
            <a:ext cx="1391412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833300" y="3715512"/>
            <a:ext cx="274320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07620" y="3715512"/>
            <a:ext cx="1770316" cy="5999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07620" y="3715512"/>
            <a:ext cx="1770316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6812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turns time into something you can manage.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837883"/>
            <a:ext cx="10413740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REVIEW &amp; IMPROVEMENT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4300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REVIEW  ·  EVERY SUNDAY  ·  30–45 MINUTES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527048"/>
            <a:ext cx="10728655" cy="5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week. Improve the system.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724205" y="2340153"/>
            <a:ext cx="10743286" cy="2529230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47468"/>
            <a:ext cx="2676677" cy="833323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530348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522423"/>
            <a:ext cx="23474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Projects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15513" y="2347468"/>
            <a:ext cx="2676677" cy="833323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98393" y="2530348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98393" y="2522423"/>
            <a:ext cx="23474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Work Hours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99505" y="2347468"/>
            <a:ext cx="2676677" cy="833323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2385" y="2530348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82385" y="2522423"/>
            <a:ext cx="23474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Hours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783498" y="2347468"/>
            <a:ext cx="2676677" cy="833323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6378" y="2530348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6378" y="2522423"/>
            <a:ext cx="23474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Hours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3188106"/>
            <a:ext cx="2676677" cy="833323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370986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3363062"/>
            <a:ext cx="23474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Sessions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415513" y="3188106"/>
            <a:ext cx="2676677" cy="833323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98393" y="3370986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98393" y="3363062"/>
            <a:ext cx="23474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Prayer Consistency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099505" y="3188106"/>
            <a:ext cx="2676677" cy="833323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82385" y="3370986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82385" y="3363062"/>
            <a:ext cx="23474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Branding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783498" y="3188106"/>
            <a:ext cx="2676677" cy="833323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6378" y="3370986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66378" y="3363062"/>
            <a:ext cx="23474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Time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31520" y="4028745"/>
            <a:ext cx="2676677" cy="833323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4211625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4400" y="4203700"/>
            <a:ext cx="23474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Usage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3415513" y="4028745"/>
            <a:ext cx="2676677" cy="833323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98393" y="4211625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598393" y="4203700"/>
            <a:ext cx="23474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Consistency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099505" y="4028745"/>
            <a:ext cx="2676677" cy="833323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82385" y="4211625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82385" y="4203700"/>
            <a:ext cx="23474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Recovery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8783498" y="4028745"/>
            <a:ext cx="2676677" cy="833323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66378" y="4211625"/>
            <a:ext cx="64008" cy="64008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966378" y="4203700"/>
            <a:ext cx="23474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Week’s Top 3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5090668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Don’t plan everything. Identify the three outcomes that matter most.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0" y="6837883"/>
            <a:ext cx="10667733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REVIEW &amp; IMPROVEMENT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 REVIEW  ·  LAST SUNDAY OF THE MONTH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 doesn’t</a:t>
            </a:r>
            <a:endParaRPr lang="en-US" sz="3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you.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31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identifies what the system needs to improve.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7830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NINE QUESTIONS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400800" y="2002536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2148840"/>
            <a:ext cx="502920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Achievement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579116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2606548"/>
            <a:ext cx="502920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Mistake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3036824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3064256"/>
            <a:ext cx="502920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Growth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94532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3521964"/>
            <a:ext cx="502920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Progress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3952240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3979672"/>
            <a:ext cx="502920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Progress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4409948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437380"/>
            <a:ext cx="502920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Quality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4867656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4895088"/>
            <a:ext cx="502920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Lesson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5325364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5352796"/>
            <a:ext cx="502920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Bottleneck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5783072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5810504"/>
            <a:ext cx="502920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Month’s Primary Focus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0" y="6240780"/>
            <a:ext cx="502920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837883"/>
            <a:ext cx="10921727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REVIEW &amp; IMPROVEMENT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96012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OPERATING PRINCIPLES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344168"/>
            <a:ext cx="10728655" cy="5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2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twelve rules.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724205" y="2157273"/>
            <a:ext cx="10743286" cy="3260750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64588"/>
            <a:ext cx="5360670" cy="534924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" y="2428392"/>
            <a:ext cx="137160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43584" y="2164588"/>
            <a:ext cx="462915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Block. One Purpose.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505" y="2164588"/>
            <a:ext cx="5360670" cy="534924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18961" y="2428392"/>
            <a:ext cx="137160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11569" y="2164588"/>
            <a:ext cx="462915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Blocks Are Fixed. Priorities Are Flexible.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2706827"/>
            <a:ext cx="5360670" cy="534924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2970632"/>
            <a:ext cx="137160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43584" y="2706827"/>
            <a:ext cx="462915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Your Peak Hours.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9505" y="2706827"/>
            <a:ext cx="5360670" cy="534924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18961" y="2970632"/>
            <a:ext cx="137160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11569" y="2706827"/>
            <a:ext cx="462915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Next Block.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249066"/>
            <a:ext cx="5360670" cy="534924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" y="3512871"/>
            <a:ext cx="137160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43584" y="3249066"/>
            <a:ext cx="462915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Is Part of Performance.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99505" y="3249066"/>
            <a:ext cx="5360670" cy="534924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18961" y="3512871"/>
            <a:ext cx="137160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11569" y="3249066"/>
            <a:ext cx="462915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Beats Intensity.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3791306"/>
            <a:ext cx="5360670" cy="534924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055110"/>
            <a:ext cx="137160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243584" y="3791306"/>
            <a:ext cx="462915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Before Motivation.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99505" y="3791306"/>
            <a:ext cx="5360670" cy="534924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18961" y="4055110"/>
            <a:ext cx="137160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11569" y="3791306"/>
            <a:ext cx="462915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Before Entertainment.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1520" y="4333545"/>
            <a:ext cx="5360670" cy="534924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4597349"/>
            <a:ext cx="137160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243584" y="4333545"/>
            <a:ext cx="462915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→ Apply → Compound.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099505" y="4333545"/>
            <a:ext cx="5360670" cy="534924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18961" y="4597349"/>
            <a:ext cx="137160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11569" y="4333545"/>
            <a:ext cx="462915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Loops.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31520" y="4875784"/>
            <a:ext cx="5360670" cy="534924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0976" y="5139588"/>
            <a:ext cx="137160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243584" y="4875784"/>
            <a:ext cx="462915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Today. Benefit Tomorrow.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099505" y="4875784"/>
            <a:ext cx="5360670" cy="534924"/>
          </a:xfrm>
          <a:prstGeom prst="rect">
            <a:avLst/>
          </a:prstGeom>
          <a:solidFill>
            <a:srgbClr val="0B0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18961" y="5139588"/>
            <a:ext cx="137160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611569" y="4875784"/>
            <a:ext cx="462915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First. Optimize Later.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0" y="6837883"/>
            <a:ext cx="11175721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5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38528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036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27248"/>
            <a:ext cx="5669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200" b="1" dirty="0">
                <a:solidFill>
                  <a:srgbClr val="07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171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actually start?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0" y="2057400"/>
            <a:ext cx="7315" cy="2697480"/>
          </a:xfrm>
          <a:prstGeom prst="rect">
            <a:avLst/>
          </a:prstGeom>
          <a:solidFill>
            <a:srgbClr val="CBDD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514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Philosophy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Daily Operating System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Weekly Tracker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Improvement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036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4343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9B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837883"/>
            <a:ext cx="11429714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IMPLEMENTATION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DON’T CHANGE EVERYTHING AT ONCE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67128"/>
            <a:ext cx="10728655" cy="66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8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system gradually.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31520" y="3394456"/>
            <a:ext cx="1012507" cy="5999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394456"/>
            <a:ext cx="1012507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744028" y="3394456"/>
            <a:ext cx="274320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18347" y="3394456"/>
            <a:ext cx="1517714" cy="5999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18347" y="3394456"/>
            <a:ext cx="1517714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36061" y="3394456"/>
            <a:ext cx="274320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381" y="3394456"/>
            <a:ext cx="1012507" cy="5999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10381" y="3394456"/>
            <a:ext cx="1012507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822889" y="3394456"/>
            <a:ext cx="274320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97209" y="3394456"/>
            <a:ext cx="1138809" cy="5999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97209" y="3394456"/>
            <a:ext cx="1138809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236018" y="3394456"/>
            <a:ext cx="274320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10337" y="3394456"/>
            <a:ext cx="1265111" cy="599948"/>
          </a:xfrm>
          <a:prstGeom prst="rect">
            <a:avLst/>
          </a:prstGeom>
          <a:solidFill>
            <a:srgbClr val="10171A"/>
          </a:solidFill>
          <a:ln w="9525">
            <a:solidFill>
              <a:srgbClr val="1D28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10337" y="3394456"/>
            <a:ext cx="1265111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314444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first. Optimize later. Consistency before redesign.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0" y="6837883"/>
            <a:ext cx="11683708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93A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IMPLEMENTATION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PHILOSOPHY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don’t need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perfect day.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a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4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 system.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233172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5D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SYSTEM THAT LETS YOU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949440" y="2551176"/>
            <a:ext cx="4480560" cy="7315"/>
          </a:xfrm>
          <a:prstGeom prst="rect">
            <a:avLst/>
          </a:prstGeom>
          <a:solidFill>
            <a:srgbClr val="1D2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3035960"/>
            <a:ext cx="100584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87184" y="2834640"/>
            <a:ext cx="4242816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better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0" y="3445916"/>
            <a:ext cx="100584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87184" y="3244596"/>
            <a:ext cx="4242816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better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0" y="3855872"/>
            <a:ext cx="100584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87184" y="3654552"/>
            <a:ext cx="4242816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better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49440" y="4265828"/>
            <a:ext cx="100584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87184" y="4064508"/>
            <a:ext cx="4242816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better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949440" y="4675784"/>
            <a:ext cx="100584" cy="7315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87184" y="4474464"/>
            <a:ext cx="4242816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better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837883"/>
            <a:ext cx="11937702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5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5C64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OS™</a:t>
            </a:r>
            <a:pPr indent="0" marL="0">
              <a:buNone/>
            </a:pPr>
            <a:r>
              <a:rPr lang="en-US" sz="700" spc="140" kern="0" dirty="0">
                <a:solidFill>
                  <a:srgbClr val="04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▪   </a:t>
            </a:r>
            <a:pPr indent="0" marL="0">
              <a:buNone/>
            </a:pPr>
            <a:r>
              <a:rPr lang="en-US" sz="700" spc="140" kern="0" dirty="0">
                <a:solidFill>
                  <a:srgbClr val="8A92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Q &amp; A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9448495" y="274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40" kern="0" dirty="0">
                <a:solidFill>
                  <a:srgbClr val="8A92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 / 49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"/>
            <a:ext cx="10728655" cy="7315"/>
          </a:xfrm>
          <a:prstGeom prst="rect">
            <a:avLst/>
          </a:prstGeom>
          <a:solidFill>
            <a:srgbClr val="CBDD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10728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7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7764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build a system that works in real life.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8932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30" kern="0" dirty="0">
                <a:solidFill>
                  <a:srgbClr val="8A92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ASCENSION OPERATING SYSTEM™ · FOUNDATION EDITION V2.0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6837883"/>
            <a:ext cx="12191695" cy="20117"/>
          </a:xfrm>
          <a:prstGeom prst="rect">
            <a:avLst/>
          </a:prstGeom>
          <a:solidFill>
            <a:srgbClr val="04A2B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ASCENSION OPERATING SYSTEM™ — Foundation Edition v2.0</dc:title>
  <dc:subject>PptxGenJS Presentation</dc:subject>
  <dc:creator>Ascension Operating System</dc:creator>
  <cp:lastModifiedBy>Ascension Operating System</cp:lastModifiedBy>
  <cp:revision>1</cp:revision>
  <dcterms:created xsi:type="dcterms:W3CDTF">2026-08-29T20:55:01Z</dcterms:created>
  <dcterms:modified xsi:type="dcterms:W3CDTF">2026-08-29T20:55:01Z</dcterms:modified>
</cp:coreProperties>
</file>